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184121a45a4d9d" /><Relationship Type="http://schemas.openxmlformats.org/officeDocument/2006/relationships/extended-properties" Target="/docProps/app.xml" Id="R3c8563ab42ff4d4d" /><Relationship Type="http://schemas.openxmlformats.org/officeDocument/2006/relationships/officeDocument" Target="/ppt/presentation.xml" Id="Rc0d1cd9ebae049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9bf26862e2472a"/>
  </p:sldMasterIdLst>
  <p:notesMasterIdLst>
    <p:notesMasterId xmlns:r="http://schemas.openxmlformats.org/officeDocument/2006/relationships" r:id="Rd1cedf8a16024373"/>
  </p:notesMasterIdLst>
  <p:sldIdLst>
    <p:sldId xmlns:r="http://schemas.openxmlformats.org/officeDocument/2006/relationships" id="256" r:id="R088c32bcbb2d408f"/>
    <p:sldId xmlns:r="http://schemas.openxmlformats.org/officeDocument/2006/relationships" id="257" r:id="Rbc4dda990773478f"/>
    <p:sldId xmlns:r="http://schemas.openxmlformats.org/officeDocument/2006/relationships" id="258" r:id="R04cfb0832b4f4e30"/>
    <p:sldId xmlns:r="http://schemas.openxmlformats.org/officeDocument/2006/relationships" id="259" r:id="R7fd676d597c74549"/>
    <p:sldId xmlns:r="http://schemas.openxmlformats.org/officeDocument/2006/relationships" id="260" r:id="Re379e2acf5224966"/>
    <p:sldId xmlns:r="http://schemas.openxmlformats.org/officeDocument/2006/relationships" id="261" r:id="Re9408a3e43694929"/>
    <p:sldId xmlns:r="http://schemas.openxmlformats.org/officeDocument/2006/relationships" id="262" r:id="R52fdebf61d1642cc"/>
    <p:sldId xmlns:r="http://schemas.openxmlformats.org/officeDocument/2006/relationships" id="263" r:id="R1f5b68f643bb4692"/>
    <p:sldId xmlns:r="http://schemas.openxmlformats.org/officeDocument/2006/relationships" id="264" r:id="R612632ffb41248c7"/>
    <p:sldId xmlns:r="http://schemas.openxmlformats.org/officeDocument/2006/relationships" id="265" r:id="Ra73ac4846c494747"/>
    <p:sldId xmlns:r="http://schemas.openxmlformats.org/officeDocument/2006/relationships" id="266" r:id="Rdc3e4939282a44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2b3060d5594e9c" /><Relationship Type="http://schemas.openxmlformats.org/officeDocument/2006/relationships/slideMaster" Target="/ppt/slideMasters/slideMaster1.xml" Id="Ra89bf26862e2472a" /><Relationship Type="http://schemas.openxmlformats.org/officeDocument/2006/relationships/notesMaster" Target="/ppt/notesMasters/notesMaster1.xml" Id="Rd1cedf8a16024373" /><Relationship Type="http://schemas.openxmlformats.org/officeDocument/2006/relationships/presProps" Target="/ppt/presProps.xml" Id="R5bc08a2ddbb945d5" /><Relationship Type="http://schemas.openxmlformats.org/officeDocument/2006/relationships/tableStyles" Target="/ppt/tableStyles.xml" Id="Rbf62805ded4448aa" /><Relationship Type="http://schemas.openxmlformats.org/officeDocument/2006/relationships/slide" Target="/ppt/slides/slide1.xml" Id="R088c32bcbb2d408f" /><Relationship Type="http://schemas.openxmlformats.org/officeDocument/2006/relationships/slide" Target="/ppt/slides/slide2.xml" Id="Rbc4dda990773478f" /><Relationship Type="http://schemas.openxmlformats.org/officeDocument/2006/relationships/slide" Target="/ppt/slides/slide3.xml" Id="R04cfb0832b4f4e30" /><Relationship Type="http://schemas.openxmlformats.org/officeDocument/2006/relationships/slide" Target="/ppt/slides/slide4.xml" Id="R7fd676d597c74549" /><Relationship Type="http://schemas.openxmlformats.org/officeDocument/2006/relationships/slide" Target="/ppt/slides/slide5.xml" Id="Re379e2acf5224966" /><Relationship Type="http://schemas.openxmlformats.org/officeDocument/2006/relationships/slide" Target="/ppt/slides/slide6.xml" Id="Re9408a3e43694929" /><Relationship Type="http://schemas.openxmlformats.org/officeDocument/2006/relationships/slide" Target="/ppt/slides/slide7.xml" Id="R52fdebf61d1642cc" /><Relationship Type="http://schemas.openxmlformats.org/officeDocument/2006/relationships/slide" Target="/ppt/slides/slide8.xml" Id="R1f5b68f643bb4692" /><Relationship Type="http://schemas.openxmlformats.org/officeDocument/2006/relationships/slide" Target="/ppt/slides/slide9.xml" Id="R612632ffb41248c7" /><Relationship Type="http://schemas.openxmlformats.org/officeDocument/2006/relationships/slide" Target="/ppt/slides/slide10.xml" Id="Ra73ac4846c494747" /><Relationship Type="http://schemas.openxmlformats.org/officeDocument/2006/relationships/slide" Target="/ppt/slides/slide11.xml" Id="Rdc3e4939282a44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ed86b8f18c49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de2a343ff141b0" /><Relationship Type="http://schemas.openxmlformats.org/officeDocument/2006/relationships/notesMaster" Target="/ppt/notesMasters/notesMaster1.xml" Id="Raed97c42de8844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9858f30a6548b9" /><Relationship Type="http://schemas.openxmlformats.org/officeDocument/2006/relationships/notesMaster" Target="/ppt/notesMasters/notesMaster1.xml" Id="Ra2bdce54fba44c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176ed4534348e8" /><Relationship Type="http://schemas.openxmlformats.org/officeDocument/2006/relationships/notesMaster" Target="/ppt/notesMasters/notesMaster1.xml" Id="Rf54f3c9894ec47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ae70d3dfa44469" /><Relationship Type="http://schemas.openxmlformats.org/officeDocument/2006/relationships/notesMaster" Target="/ppt/notesMasters/notesMaster1.xml" Id="R7806563f817540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5f62ea6da84131" /><Relationship Type="http://schemas.openxmlformats.org/officeDocument/2006/relationships/notesMaster" Target="/ppt/notesMasters/notesMaster1.xml" Id="R7bfd61a53eab46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27c534ea274f78" /><Relationship Type="http://schemas.openxmlformats.org/officeDocument/2006/relationships/notesMaster" Target="/ppt/notesMasters/notesMaster1.xml" Id="Ra5e6ad37c1f946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aa3e2f359d40b0" /><Relationship Type="http://schemas.openxmlformats.org/officeDocument/2006/relationships/notesMaster" Target="/ppt/notesMasters/notesMaster1.xml" Id="R03fca457ca9e434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5b4f64a608d4993" /><Relationship Type="http://schemas.openxmlformats.org/officeDocument/2006/relationships/notesMaster" Target="/ppt/notesMasters/notesMaster1.xml" Id="Rba263c53c68944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5f74850d704d97" /><Relationship Type="http://schemas.openxmlformats.org/officeDocument/2006/relationships/notesMaster" Target="/ppt/notesMasters/notesMaster1.xml" Id="R180888473b2b44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1f98851c3241c6" /><Relationship Type="http://schemas.openxmlformats.org/officeDocument/2006/relationships/notesMaster" Target="/ppt/notesMasters/notesMaster1.xml" Id="Rc64b09374e4c45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0b62caccaaf42af" /><Relationship Type="http://schemas.openxmlformats.org/officeDocument/2006/relationships/notesMaster" Target="/ppt/notesMasters/notesMaster1.xml" Id="Rcce517a2312246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outcome: agents can negotiate and move money, but only inside company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https://raingentic.saibolla.com</a:t>
            </a:r>
          </a:p>
          <a:p xmlns:a="http://schemas.openxmlformats.org/drawingml/2006/main">
            <a:r>
              <a:t>- Repository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around company authority, not crypto. Businesses already have money and products; agents lack safe permission boundaries.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Raingentic product thesis</a:t>
            </a:r>
          </a:p>
          <a:p xmlns:a="http://schemas.openxmlformats.org/drawingml/2006/main">
            <a:r>
              <a:t>- Repository docs/research/10-platform-sdk-vision.md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two-sided platform. A business configures the same policy and payment layer for what it buys and what it sells.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https://raingentic.saibolla.com/dashboard</a:t>
            </a:r>
          </a:p>
          <a:p xmlns:a="http://schemas.openxmlformats.org/drawingml/2006/main">
            <a:r>
              <a:t>- Repository src/components/commerce-dashboard.tsx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existing business inputs, agent control plane, exact AP2 permission, Monad or Rain execution, then delivery verification. Call out the live evidence layer at the bottom.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docs/architecture.svg</a:t>
            </a:r>
          </a:p>
          <a:p xmlns:a="http://schemas.openxmlformats.org/drawingml/2006/main">
            <a:r>
              <a:t>- Repository docs/architecture.excalidraw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the seller onboarding is not a mock catalog. It imports the deployed PreFlight specification and preserves evidence status and per-operation prices.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https://preflight.saibolla.com/openapi.json</a:t>
            </a:r>
          </a:p>
          <a:p xmlns:a="http://schemas.openxmlformats.org/drawingml/2006/main">
            <a:r>
              <a:t>- https://raingentic.saibolla.com/api/catalog/import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core safety moment. A2A reached agreement, but the deterministic threshold pauses execution and clearly states that no money has moved.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https://raingentic.saibolla.com/dashboard</a:t>
            </a:r>
          </a:p>
          <a:p xmlns:a="http://schemas.openxmlformats.org/drawingml/2006/main">
            <a:r>
              <a:t>- Repository src/app/api/purchases/run/route.ts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A2A handles communication. AP2 handles authorization. Deterministic policy and human approval sit between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https://raingentic.saibolla.com/.well-known/agent-card.json</a:t>
            </a:r>
          </a:p>
          <a:p xmlns:a="http://schemas.openxmlformats.org/drawingml/2006/main">
            <a:r>
              <a:t>- https://github.com/google-agentic-commerce/AP2</a:t>
            </a:r>
          </a:p>
          <a:p xmlns:a="http://schemas.openxmlformats.org/drawingml/2006/main">
            <a:r>
              <a:t>- Repository src/lib/a2a.ts</a:t>
            </a:r>
          </a:p>
          <a:p xmlns:a="http://schemas.openxmlformats.org/drawingml/2006/main">
            <a:r>
              <a:t>- Repository src/lib/ap2.ts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Monad is necessary for the machine-readable sale. The escrow extends the same authorization model to high-value terms.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src/lib/monad.ts</a:t>
            </a:r>
          </a:p>
          <a:p xmlns:a="http://schemas.openxmlformats.org/drawingml/2006/main">
            <a:r>
              <a:t>- Repository contracts/RaingenticCommerceEscrow.sol</a:t>
            </a:r>
          </a:p>
          <a:p xmlns:a="http://schemas.openxmlformats.org/drawingml/2006/main">
            <a:r>
              <a:t>- https://monadvision.com/address/0x2403498812e217ab86dd0e937e60fe09bfe73fb1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Rain bridges agents to the traditional merchant world. Emphasize the decline demonstration and the second AP2 check before card creation.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src/lib/rain.ts</a:t>
            </a:r>
          </a:p>
          <a:p xmlns:a="http://schemas.openxmlformats.org/drawingml/2006/main">
            <a:r>
              <a:t>- Repository src/app/api/purchases/run/route.ts</a:t>
            </a:r>
          </a:p>
          <a:p xmlns:a="http://schemas.openxmlformats.org/drawingml/2006/main">
            <a:r>
              <a:t>- Rain sandbox documentation supplied for the hackathon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Judges should trust the demo because it labels exactly what is production-like, testnet, sandbox, and controlled.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verification on August 9, 2026</a:t>
            </a:r>
          </a:p>
          <a:p xmlns:a="http://schemas.openxmlformats.org/drawingml/2006/main">
            <a:r>
              <a:t>- Repository README.md</a:t>
            </a:r>
          </a:p>
          <a:p xmlns:a="http://schemas.openxmlformats.org/drawingml/2006/main">
            <a:r>
              <a:t>- https://preflight.saibolla.com/openapi.json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connecting the product to the judging criteria, then repeat the memorable product definition.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 challenge statement</a:t>
            </a:r>
          </a:p>
          <a:p xmlns:a="http://schemas.openxmlformats.org/drawingml/2006/main">
            <a:r>
              <a:t>- Repository README.md</a:t>
            </a:r>
          </a:p>
          <a:p xmlns:a="http://schemas.openxmlformats.org/drawingml/2006/main">
            <a:r>
              <a:t>- https://raingentic.saibolla.com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4cdbc36c8545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1e552b60e5449d" /><Relationship Type="http://schemas.openxmlformats.org/officeDocument/2006/relationships/slideLayout" Target="/ppt/slideLayouts/slideLayout1.xml" Id="R65e8ed092d6b4d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e8ed092d6b4d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b74cb726f94646" /><Relationship Type="http://schemas.openxmlformats.org/officeDocument/2006/relationships/image" Target="/ppt/media/image.jpeg" Id="R35bf11515cde4558" /><Relationship Type="http://schemas.openxmlformats.org/officeDocument/2006/relationships/notesSlide" Target="/ppt/notesSlides/notesSlide1.xml" Id="R3694ba5fbb1940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cf56f629a3493b" /><Relationship Type="http://schemas.openxmlformats.org/officeDocument/2006/relationships/notesSlide" Target="/ppt/notesSlides/notesSlide2.xml" Id="Rb0ed5d39dc594a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820181b7054ff5" /><Relationship Type="http://schemas.openxmlformats.org/officeDocument/2006/relationships/image" Target="/ppt/media/image2.jpeg" Id="R420b686413c24b8d" /><Relationship Type="http://schemas.openxmlformats.org/officeDocument/2006/relationships/notesSlide" Target="/ppt/notesSlides/notesSlide3.xml" Id="Rb34a6b6bf79c48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405c5a94045e2" /><Relationship Type="http://schemas.openxmlformats.org/officeDocument/2006/relationships/image" Target="/ppt/media/image.png" Id="R5e383d1ec0a94f8e" /><Relationship Type="http://schemas.openxmlformats.org/officeDocument/2006/relationships/notesSlide" Target="/ppt/notesSlides/notesSlide4.xml" Id="R89cec78bcdf94d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c0688e87e4d11" /><Relationship Type="http://schemas.openxmlformats.org/officeDocument/2006/relationships/image" Target="/ppt/media/image3.jpeg" Id="R445b2f609c354f14" /><Relationship Type="http://schemas.openxmlformats.org/officeDocument/2006/relationships/notesSlide" Target="/ppt/notesSlides/notesSlide5.xml" Id="Rf6b484d8200d46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c189c2b274966" /><Relationship Type="http://schemas.openxmlformats.org/officeDocument/2006/relationships/image" Target="/ppt/media/image4.jpeg" Id="R47100db240d0444d" /><Relationship Type="http://schemas.openxmlformats.org/officeDocument/2006/relationships/notesSlide" Target="/ppt/notesSlides/notesSlide6.xml" Id="R5d3e683c26a64c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dc57c1c374e23" /><Relationship Type="http://schemas.openxmlformats.org/officeDocument/2006/relationships/notesSlide" Target="/ppt/notesSlides/notesSlide7.xml" Id="R02e64287821c42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767868c8784d5f" /><Relationship Type="http://schemas.openxmlformats.org/officeDocument/2006/relationships/image" Target="/ppt/media/image5.jpeg" Id="R886ce1e155374ab5" /><Relationship Type="http://schemas.openxmlformats.org/officeDocument/2006/relationships/notesSlide" Target="/ppt/notesSlides/notesSlide8.xml" Id="R79375a464261437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4faa1c64c4336" /><Relationship Type="http://schemas.openxmlformats.org/officeDocument/2006/relationships/image" Target="/ppt/media/image6.jpeg" Id="R27fe8651a76f4844" /><Relationship Type="http://schemas.openxmlformats.org/officeDocument/2006/relationships/notesSlide" Target="/ppt/notesSlides/notesSlide9.xml" Id="Rb706161f85d145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9b7de4c6347fc" /><Relationship Type="http://schemas.openxmlformats.org/officeDocument/2006/relationships/notesSlide" Target="/ppt/notesSlides/notesSlide10.xml" Id="Ree239d3d6ea5419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896bd03f7a4ea6" /><Relationship Type="http://schemas.openxmlformats.org/officeDocument/2006/relationships/notesSlide" Target="/ppt/notesSlides/notesSlide11.xml" Id="R770c87d80903451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bf11515cde4558"/>
          <a:srcRect xmlns:a="http://schemas.openxmlformats.org/drawingml/2006/main" l="25602" t="0" r="2560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0" y="0"/>
            <a:ext cx="6477000" cy="6858000"/>
          </a:xfrm>
          <a:prstGeom xmlns:a="http://schemas.openxmlformats.org/drawingml/2006/main" prst="round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37E95-C01C-438F-96A5-3B5F14CA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81750" cy="6858000"/>
          </a:xfrm>
          <a:prstGeom xmlns:a="http://schemas.openxmlformats.org/drawingml/2006/main" prst="roundRect">
            <a:avLst>
              <a:gd name="adj" fmla="val 1194"/>
            </a:avLst>
          </a:prstGeom>
          <a:solidFill xmlns:a="http://schemas.openxmlformats.org/drawingml/2006/main">
            <a:srgbClr val="0B1111"/>
          </a:solidFill>
          <a:ln xmlns:a="http://schemas.openxmlformats.org/drawingml/2006/main" w="9525">
            <a:solidFill>
              <a:srgbClr val="0B111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29FFE3-2EC1-46A2-9D6A-12DCE45C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D55"/>
          </a:solidFill>
          <a:ln xmlns:a="http://schemas.openxmlformats.org/drawingml/2006/main" w="0">
            <a:solidFill>
              <a:srgbClr val="F2ED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75477D-0B4C-4449-A37E-B82CF3C3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4857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5F7F6"/>
                </a:solidFill>
              </a:defRPr>
            </a:pPr>
            <a:r>
              <a:rPr sz="4350" b="1">
                <a:solidFill>
                  <a:srgbClr val="F5F7F6"/>
                </a:solidFill>
              </a:rPr>
              <a:t>Raingentic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3BE56-2582-4DE5-8813-A882D796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F7F6"/>
                </a:solidFill>
              </a:defRPr>
            </a:pPr>
            <a:r>
              <a:rPr sz="2250" b="1">
                <a:solidFill>
                  <a:srgbClr val="F5F7F6"/>
                </a:solidFill>
              </a:rPr>
              <a:t>The business control plane for agent commerce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A60F9-C86E-49A6-B6D8-AC80A7BF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F"/>
                </a:solidFill>
              </a:defRPr>
            </a:pPr>
            <a:r>
              <a:rPr sz="1425" b="0">
                <a:solidFill>
                  <a:srgbClr val="98A19F"/>
                </a:solidFill>
              </a:rPr>
              <a:t>A2A negotiation. AP2 authorization. Monad settlement. Rain-controlled procurement.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00298F-ED57-4CF8-AC44-E830CC5B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2ED55"/>
                </a:solidFill>
              </a:defRPr>
            </a:pPr>
            <a:r>
              <a:rPr sz="1200" b="1">
                <a:solidFill>
                  <a:srgbClr val="F2ED55"/>
                </a:solidFill>
              </a:rPr>
              <a:t>raingentic.saibolla.com</a:t>
            </a:r>
          </a:p>
        </p:txBody>
      </p:sp>
    </p:spTree>
    <p:extLst>
      <p:ext uri="{BB962C8B-B14F-4D97-AF65-F5344CB8AC3E}">
        <p14:creationId xmlns:p14="http://schemas.microsoft.com/office/powerpoint/2010/main" val="21284436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DCF5A3-0959-4E40-8AED-5ED9ADAD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ED55"/>
                </a:solidFill>
              </a:defRPr>
            </a:pPr>
            <a:r>
              <a:rPr sz="975" b="1">
                <a:solidFill>
                  <a:srgbClr val="F2ED55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5FC5E-FF66-4496-A703-E5998C47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F7F6"/>
                </a:solidFill>
              </a:defRPr>
            </a:pPr>
            <a:r>
              <a:rPr sz="2700" b="1">
                <a:solidFill>
                  <a:srgbClr val="F5F7F6"/>
                </a:solidFill>
              </a:rPr>
              <a:t>Agents can reason. Businesses still cannot safely let them transact.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AF0BA-B77B-4C7F-AB6C-0DA011BC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73700-47B9-44FD-8A70-C2EE4314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8A19F"/>
                </a:solidFill>
              </a:defRPr>
            </a:pPr>
            <a:r>
              <a:rPr sz="900" b="1">
                <a:solidFill>
                  <a:srgbClr val="98A19F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E7502F-03F1-4AE7-B477-BC3FF64F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F7F6"/>
                </a:solidFill>
              </a:defRPr>
            </a:pPr>
            <a:r>
              <a:rPr sz="2100" b="1">
                <a:solidFill>
                  <a:srgbClr val="F5F7F6"/>
                </a:solidFill>
              </a:rPr>
              <a:t>Products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F24A6-3A42-4FB7-8B8F-E472220E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APIs, services, subscriptions, and physical goods already live across disconnected systems.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53F801-E8D4-489E-94C7-ADE1584B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09750"/>
            <a:ext cx="952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41BE17-9A46-416F-BF2B-7088413E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859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F7F6"/>
                </a:solidFill>
              </a:defRPr>
            </a:pPr>
            <a:r>
              <a:rPr sz="2100" b="1">
                <a:solidFill>
                  <a:srgbClr val="F5F7F6"/>
                </a:solidFill>
              </a:rPr>
              <a:t>Authority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4BD95-9781-48E9-A3C6-2814EBD2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030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Budgets, approval thresholds, seller restrictions, and payment permissions are not native to agents.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5371AD-3E52-49F6-85BC-0DC45DE9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952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6EC4AB-E133-42C2-8341-213D6D08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859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F7F6"/>
                </a:solidFill>
              </a:defRPr>
            </a:pPr>
            <a:r>
              <a:rPr sz="2100" b="1">
                <a:solidFill>
                  <a:srgbClr val="F5F7F6"/>
                </a:solidFill>
              </a:rPr>
              <a:t>Execution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BB77B5-E733-4874-B688-6E7BB8820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0300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Stablecoin rails and card rails solve different purchases, with no shared control or receipt layer.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CAC5FC-8516-4754-8485-A008DC91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91125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2ED55"/>
                </a:solidFill>
              </a:defRPr>
            </a:pPr>
            <a:r>
              <a:rPr sz="2100" b="1">
                <a:solidFill>
                  <a:srgbClr val="F2ED55"/>
                </a:solidFill>
              </a:rPr>
              <a:t>The missing product is not another wallet. It is governed commercial authority.</a:t>
            </a:r>
          </a:p>
        </p:txBody>
      </p:sp>
    </p:spTree>
    <p:extLst>
      <p:ext uri="{BB962C8B-B14F-4D97-AF65-F5344CB8AC3E}">
        <p14:creationId xmlns:p14="http://schemas.microsoft.com/office/powerpoint/2010/main" val="7462664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C821D7-8715-49EE-BE30-A5764D22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ED55"/>
                </a:solidFill>
              </a:defRPr>
            </a:pPr>
            <a:r>
              <a:rPr sz="975" b="1">
                <a:solidFill>
                  <a:srgbClr val="F2ED55"/>
                </a:solidFill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E184E-E071-471C-96FF-8A9D80A4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F7F6"/>
                </a:solidFill>
              </a:defRPr>
            </a:pPr>
            <a:r>
              <a:rPr sz="2700" b="1">
                <a:solidFill>
                  <a:srgbClr val="F5F7F6"/>
                </a:solidFill>
              </a:rPr>
              <a:t>One control plane governs both sides of commerce.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CC5645-17DB-49D5-9648-0495DA90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4C3C92-105D-4D07-A70C-7C9BADD6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8A19F"/>
                </a:solidFill>
              </a:defRPr>
            </a:pPr>
            <a:r>
              <a:rPr sz="900" b="1">
                <a:solidFill>
                  <a:srgbClr val="98A19F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3D7320-B3B0-403A-BE8C-E24A2277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D4CA"/>
                </a:solidFill>
              </a:defRPr>
            </a:pPr>
            <a:r>
              <a:rPr sz="1200" b="1">
                <a:solidFill>
                  <a:srgbClr val="64D4CA"/>
                </a:solidFill>
              </a:rPr>
              <a:t>BUY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87A1B-C557-4A43-A478-43CE6FEA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6"/>
                </a:solidFill>
              </a:defRPr>
            </a:pPr>
            <a:r>
              <a:rPr sz="1950" b="1">
                <a:solidFill>
                  <a:srgbClr val="F5F7F6"/>
                </a:solidFill>
              </a:rPr>
              <a:t>Describe a need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C206B0-8756-4C90-BCEA-482A62F1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F"/>
                </a:solidFill>
              </a:defRPr>
            </a:pPr>
            <a:r>
              <a:rPr sz="1425" b="0">
                <a:solidFill>
                  <a:srgbClr val="98A19F"/>
                </a:solidFill>
              </a:rPr>
              <a:t>Discover sellers</a:t>
            </a:r>
          </a:p>
          <a:p xmlns:a="http://schemas.openxmlformats.org/drawingml/2006/main">
            <a:pPr algn="l">
              <a:defRPr sz="1425" b="0">
                <a:solidFill>
                  <a:srgbClr val="98A19F"/>
                </a:solidFill>
              </a:defRPr>
            </a:pPr>
            <a:r>
              <a:rPr sz="1425" b="0">
                <a:solidFill>
                  <a:srgbClr val="98A19F"/>
                </a:solidFill>
              </a:rPr>
              <a:t>Negotiate through A2A</a:t>
            </a:r>
          </a:p>
          <a:p xmlns:a="http://schemas.openxmlformats.org/drawingml/2006/main">
            <a:pPr algn="l">
              <a:defRPr sz="1425" b="0">
                <a:solidFill>
                  <a:srgbClr val="98A19F"/>
                </a:solidFill>
              </a:defRPr>
            </a:pPr>
            <a:r>
              <a:rPr sz="1425" b="0">
                <a:solidFill>
                  <a:srgbClr val="98A19F"/>
                </a:solidFill>
              </a:rPr>
              <a:t>Check policy</a:t>
            </a:r>
          </a:p>
          <a:p xmlns:a="http://schemas.openxmlformats.org/drawingml/2006/main">
            <a:pPr algn="l">
              <a:defRPr sz="1425" b="0">
                <a:solidFill>
                  <a:srgbClr val="98A19F"/>
                </a:solidFill>
              </a:defRPr>
            </a:pPr>
            <a:r>
              <a:rPr sz="1425" b="0">
                <a:solidFill>
                  <a:srgbClr val="98A19F"/>
                </a:solidFill>
              </a:rPr>
              <a:t>Approve and pay</a:t>
            </a:r>
          </a:p>
          <a:p xmlns:a="http://schemas.openxmlformats.org/drawingml/2006/main">
            <a:pPr algn="l">
              <a:defRPr sz="1425" b="0">
                <a:solidFill>
                  <a:srgbClr val="98A19F"/>
                </a:solidFill>
              </a:defRPr>
            </a:pPr>
            <a:r>
              <a:rPr sz="1425" b="0">
                <a:solidFill>
                  <a:srgbClr val="98A19F"/>
                </a:solidFill>
              </a:rPr>
              <a:t>Verify delivery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8A0D37-08D0-40A0-B922-AD845D9B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097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2ED55"/>
                </a:solidFill>
              </a:defRPr>
            </a:pPr>
            <a:r>
              <a:rPr sz="1200" b="1">
                <a:solidFill>
                  <a:srgbClr val="F2ED55"/>
                </a:solidFill>
              </a:rPr>
              <a:t>SELL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251DDC-2C08-46B6-A937-6972103F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6"/>
                </a:solidFill>
              </a:defRPr>
            </a:pPr>
            <a:r>
              <a:rPr sz="1950" b="1">
                <a:solidFill>
                  <a:srgbClr val="F5F7F6"/>
                </a:solidFill>
              </a:rPr>
              <a:t>Connect what exists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139596-BEFC-4728-B320-FB206D181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81300"/>
            <a:ext cx="3333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F"/>
                </a:solidFill>
              </a:defRPr>
            </a:pPr>
            <a:r>
              <a:rPr sz="1425" b="0">
                <a:solidFill>
                  <a:srgbClr val="98A19F"/>
                </a:solidFill>
              </a:rPr>
              <a:t>Import APIs or stores</a:t>
            </a:r>
          </a:p>
          <a:p xmlns:a="http://schemas.openxmlformats.org/drawingml/2006/main">
            <a:pPr algn="l">
              <a:defRPr sz="1425" b="0">
                <a:solidFill>
                  <a:srgbClr val="98A19F"/>
                </a:solidFill>
              </a:defRPr>
            </a:pPr>
            <a:r>
              <a:rPr sz="1425" b="0">
                <a:solidFill>
                  <a:srgbClr val="98A19F"/>
                </a:solidFill>
              </a:rPr>
              <a:t>Price each product</a:t>
            </a:r>
          </a:p>
          <a:p xmlns:a="http://schemas.openxmlformats.org/drawingml/2006/main">
            <a:pPr algn="l">
              <a:defRPr sz="1425" b="0">
                <a:solidFill>
                  <a:srgbClr val="98A19F"/>
                </a:solidFill>
              </a:defRPr>
            </a:pPr>
            <a:r>
              <a:rPr sz="1425" b="0">
                <a:solidFill>
                  <a:srgbClr val="98A19F"/>
                </a:solidFill>
              </a:rPr>
              <a:t>Set negotiation limits</a:t>
            </a:r>
          </a:p>
          <a:p xmlns:a="http://schemas.openxmlformats.org/drawingml/2006/main">
            <a:pPr algn="l">
              <a:defRPr sz="1425" b="0">
                <a:solidFill>
                  <a:srgbClr val="98A19F"/>
                </a:solidFill>
              </a:defRPr>
            </a:pPr>
            <a:r>
              <a:rPr sz="1425" b="0">
                <a:solidFill>
                  <a:srgbClr val="98A19F"/>
                </a:solidFill>
              </a:rPr>
              <a:t>Publish for agents</a:t>
            </a:r>
          </a:p>
          <a:p xmlns:a="http://schemas.openxmlformats.org/drawingml/2006/main">
            <a:pPr algn="l">
              <a:defRPr sz="1425" b="0">
                <a:solidFill>
                  <a:srgbClr val="98A19F"/>
                </a:solidFill>
              </a:defRPr>
            </a:pPr>
            <a:r>
              <a:rPr sz="1425" b="0">
                <a:solidFill>
                  <a:srgbClr val="98A19F"/>
                </a:solidFill>
              </a:rPr>
              <a:t>Receive the right payment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0b686413c24b8d"/>
          <a:srcRect xmlns:a="http://schemas.openxmlformats.org/drawingml/2006/main" l="20885" t="0" r="208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0" y="1809750"/>
            <a:ext cx="4095750" cy="3429000"/>
          </a:xfrm>
          <a:prstGeom xmlns:a="http://schemas.openxmlformats.org/drawingml/2006/main" prst="roundRect">
            <a:avLst>
              <a:gd name="adj" fmla="val 3333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9E9CA-5FE4-468C-9B07-331567F3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97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7F6"/>
                </a:solidFill>
              </a:defRPr>
            </a:pPr>
            <a:r>
              <a:rPr sz="1425" b="1">
                <a:solidFill>
                  <a:srgbClr val="F5F7F6"/>
                </a:solidFill>
              </a:rPr>
              <a:t>Raingentic does not replace checkout, inventory, billing, or fulfillment.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A63061-E8F5-46CA-93F8-4520C0CE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2ED55"/>
                </a:solidFill>
              </a:defRPr>
            </a:pPr>
            <a:r>
              <a:rPr sz="1425" b="1">
                <a:solidFill>
                  <a:srgbClr val="F2ED55"/>
                </a:solidFill>
              </a:rPr>
              <a:t>It makes them usable by agents.</a:t>
            </a:r>
          </a:p>
        </p:txBody>
      </p:sp>
    </p:spTree>
    <p:extLst>
      <p:ext uri="{BB962C8B-B14F-4D97-AF65-F5344CB8AC3E}">
        <p14:creationId xmlns:p14="http://schemas.microsoft.com/office/powerpoint/2010/main" val="16299075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8B053-B31A-4214-871C-94748A6F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8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HOW IT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9AA234-733B-46EE-88F0-3E561B9F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933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AI proposes. Deterministic code authorizes.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383d1ec0a94f8e"/>
          <a:stretch xmlns:a="http://schemas.openxmlformats.org/drawingml/2006/main"/>
        </p:blipFill>
        <p:spPr>
          <a:xfrm xmlns:a="http://schemas.openxmlformats.org/drawingml/2006/main">
            <a:off x="1821089" y="1047750"/>
            <a:ext cx="8549821" cy="55245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986374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2991A-2BF3-40F0-8D93-7421B250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ED55"/>
                </a:solidFill>
              </a:defRPr>
            </a:pPr>
            <a:r>
              <a:rPr sz="975" b="1">
                <a:solidFill>
                  <a:srgbClr val="F2ED55"/>
                </a:solidFill>
              </a:rPr>
              <a:t>SELLING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35BC56-5223-4E0B-A9F4-55D4463F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F7F6"/>
                </a:solidFill>
              </a:defRPr>
            </a:pPr>
            <a:r>
              <a:rPr sz="2700" b="1">
                <a:solidFill>
                  <a:srgbClr val="F5F7F6"/>
                </a:solidFill>
              </a:rPr>
              <a:t>A live OpenAPI document becomes 18 agent-buyable products.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846A3-C308-4213-B3A1-B3DD94C3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15C496-4EED-4007-842A-CCD32E44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8A19F"/>
                </a:solidFill>
              </a:defRPr>
            </a:pPr>
            <a:r>
              <a:rPr sz="900" b="1">
                <a:solidFill>
                  <a:srgbClr val="98A19F"/>
                </a:solidFill>
              </a:rPr>
              <a:t>05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5b2f609c354f14"/>
          <a:srcRect xmlns:a="http://schemas.openxmlformats.org/drawingml/2006/main" l="8833" t="0" r="88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600200"/>
            <a:ext cx="7239000" cy="4286250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3BB8A-1CEA-4436-9BEA-587FD9EB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09750"/>
            <a:ext cx="133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2ED55"/>
                </a:solidFill>
              </a:defRPr>
            </a:pPr>
            <a:r>
              <a:rPr sz="4350" b="1">
                <a:solidFill>
                  <a:srgbClr val="F2ED55"/>
                </a:solidFill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38296-E7C6-4A65-9AA6-815313A7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717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6"/>
                </a:solidFill>
              </a:defRPr>
            </a:pPr>
            <a:r>
              <a:rPr sz="1800" b="1">
                <a:solidFill>
                  <a:srgbClr val="F5F7F6"/>
                </a:solidFill>
              </a:rPr>
              <a:t>independently priced operations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FE5EF9-DA60-49D9-8D13-1FDD3C1B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81375"/>
            <a:ext cx="2381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8A19F"/>
                </a:solidFill>
              </a:defRPr>
            </a:pPr>
            <a:r>
              <a:rPr sz="1725" b="0">
                <a:solidFill>
                  <a:srgbClr val="98A19F"/>
                </a:solidFill>
              </a:rPr>
              <a:t>13 live</a:t>
            </a:r>
          </a:p>
          <a:p xmlns:a="http://schemas.openxmlformats.org/drawingml/2006/main">
            <a:pPr algn="l">
              <a:defRPr sz="1725" b="0">
                <a:solidFill>
                  <a:srgbClr val="98A19F"/>
                </a:solidFill>
              </a:defRPr>
            </a:pPr>
            <a:r>
              <a:rPr sz="1725" b="0">
                <a:solidFill>
                  <a:srgbClr val="98A19F"/>
                </a:solidFill>
              </a:rPr>
              <a:t>3 derived</a:t>
            </a:r>
          </a:p>
          <a:p xmlns:a="http://schemas.openxmlformats.org/drawingml/2006/main">
            <a:pPr algn="l">
              <a:defRPr sz="1725" b="0">
                <a:solidFill>
                  <a:srgbClr val="98A19F"/>
                </a:solidFill>
              </a:defRPr>
            </a:pPr>
            <a:r>
              <a:rPr sz="1725" b="0">
                <a:solidFill>
                  <a:srgbClr val="98A19F"/>
                </a:solidFill>
              </a:rPr>
              <a:t>2 simulated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26DD34-E348-407E-99AA-C4004251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81012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7F6"/>
                </a:solidFill>
              </a:defRPr>
            </a:pPr>
            <a:r>
              <a:rPr sz="1350" b="0">
                <a:solidFill>
                  <a:srgbClr val="F5F7F6"/>
                </a:solidFill>
              </a:rPr>
              <a:t>Price floors, discounts, payment rails, and negotiation rules publish with the catalog.</a:t>
            </a:r>
          </a:p>
        </p:txBody>
      </p:sp>
    </p:spTree>
    <p:extLst>
      <p:ext uri="{BB962C8B-B14F-4D97-AF65-F5344CB8AC3E}">
        <p14:creationId xmlns:p14="http://schemas.microsoft.com/office/powerpoint/2010/main" val="20556945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869436-AF29-4CA7-B854-9BC2D162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ED55"/>
                </a:solidFill>
              </a:defRPr>
            </a:pPr>
            <a:r>
              <a:rPr sz="975" b="1">
                <a:solidFill>
                  <a:srgbClr val="F2ED55"/>
                </a:solidFill>
              </a:rPr>
              <a:t>GOVERNED BUYING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6761E4-2994-4B8A-8A7E-1CB5D4A8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F7F6"/>
                </a:solidFill>
              </a:defRPr>
            </a:pPr>
            <a:r>
              <a:rPr sz="2700" b="1">
                <a:solidFill>
                  <a:srgbClr val="F5F7F6"/>
                </a:solidFill>
              </a:rPr>
              <a:t>The agent stops exactly where company authority ends.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1FE4F-26B2-4B6E-A5CA-2945D58A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AC2CF9-3BB8-4EAC-9806-DDB23483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8A19F"/>
                </a:solidFill>
              </a:defRPr>
            </a:pPr>
            <a:r>
              <a:rPr sz="900" b="1">
                <a:solidFill>
                  <a:srgbClr val="98A19F"/>
                </a:solidFill>
              </a:rPr>
              <a:t>06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00db240d0444d"/>
          <a:srcRect xmlns:a="http://schemas.openxmlformats.org/drawingml/2006/main" l="9375" t="0" r="937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600200"/>
            <a:ext cx="7143750" cy="4286250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DA05D5-E272-42F4-B331-91DC6A83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5F7F6"/>
                </a:solidFill>
              </a:defRPr>
            </a:pPr>
            <a:r>
              <a:rPr sz="3900" b="1">
                <a:solidFill>
                  <a:srgbClr val="F5F7F6"/>
                </a:solidFill>
              </a:rPr>
              <a:t>$1,450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03FD2-9509-4FD5-9BA8-FABC25F8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717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98A19F"/>
                </a:solidFill>
              </a:defRPr>
            </a:pPr>
            <a:r>
              <a:rPr sz="1650" b="0">
                <a:solidFill>
                  <a:srgbClr val="98A19F"/>
                </a:solidFill>
              </a:rPr>
              <a:t>negotiated order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5E270-C078-4D50-8B0A-FABB7F3D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90875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57F785-2469-4B15-A5A4-ADB050F5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242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2ED55"/>
                </a:solidFill>
              </a:defRPr>
            </a:pPr>
            <a:r>
              <a:rPr sz="2850" b="1">
                <a:solidFill>
                  <a:srgbClr val="F2ED55"/>
                </a:solidFill>
              </a:rPr>
              <a:t>$500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417439-4FF0-4904-B3F9-CEBC1024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957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7F6"/>
                </a:solidFill>
              </a:defRPr>
            </a:pPr>
            <a:r>
              <a:rPr sz="1425" b="1">
                <a:solidFill>
                  <a:srgbClr val="F5F7F6"/>
                </a:solidFill>
              </a:rPr>
              <a:t>automatic authority limit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BA26AF-6A46-406B-8D02-A378BFE7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05375"/>
            <a:ext cx="304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No payment continues until a human approves the exact seller, product, and amount.</a:t>
            </a:r>
          </a:p>
        </p:txBody>
      </p:sp>
    </p:spTree>
    <p:extLst>
      <p:ext uri="{BB962C8B-B14F-4D97-AF65-F5344CB8AC3E}">
        <p14:creationId xmlns:p14="http://schemas.microsoft.com/office/powerpoint/2010/main" val="20726916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02FA0C-AB49-4111-AD7F-3A8DFD5F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ED55"/>
                </a:solidFill>
              </a:defRPr>
            </a:pPr>
            <a:r>
              <a:rPr sz="975" b="1">
                <a:solidFill>
                  <a:srgbClr val="F2ED55"/>
                </a:solidFill>
              </a:rPr>
              <a:t>A2A + AP2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2C31C-6836-452F-9738-F68F5887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F7F6"/>
                </a:solidFill>
              </a:defRPr>
            </a:pPr>
            <a:r>
              <a:rPr sz="2700" b="1">
                <a:solidFill>
                  <a:srgbClr val="F5F7F6"/>
                </a:solidFill>
              </a:rPr>
              <a:t>Negotiation and payment authority are different protocols.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F27C5-AAB3-4B0D-8CDD-AEF64F02B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7CADB3-693E-42DD-9D3D-E742C0B7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8A19F"/>
                </a:solidFill>
              </a:defRPr>
            </a:pPr>
            <a:r>
              <a:rPr sz="900" b="1">
                <a:solidFill>
                  <a:srgbClr val="98A19F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CFA0B-8405-4B9B-8B16-C8AA749C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81375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40DF0-E0E9-44FC-8AED-8EBCC955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381375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65ABF3-FCC0-4784-9157-C3F9942F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81375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CFC3F-3230-475B-9CBD-DCF05B322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4D4CA"/>
                </a:solidFill>
              </a:defRPr>
            </a:pPr>
            <a:r>
              <a:rPr sz="2100" b="1">
                <a:solidFill>
                  <a:srgbClr val="64D4CA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37C64A-3921-457E-A9A1-A4215408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2286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F7F6"/>
                </a:solidFill>
              </a:defRPr>
            </a:pPr>
            <a:r>
              <a:rPr sz="2100" b="1">
                <a:solidFill>
                  <a:srgbClr val="F5F7F6"/>
                </a:solidFill>
              </a:rPr>
              <a:t>A2A discovers</a:t>
            </a:r>
          </a:p>
          <a:p xmlns:a="http://schemas.openxmlformats.org/drawingml/2006/main">
            <a:pPr algn="l">
              <a:defRPr sz="2100" b="1">
                <a:solidFill>
                  <a:srgbClr val="F5F7F6"/>
                </a:solidFill>
              </a:defRPr>
            </a:pPr>
            <a:r>
              <a:rPr sz="2100" b="1">
                <a:solidFill>
                  <a:srgbClr val="F5F7F6"/>
                </a:solidFill>
              </a:rPr>
              <a:t>and negotiates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372DE7-B1B4-4CFD-B507-F6807602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57625"/>
            <a:ext cx="238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Official Agent Card</a:t>
            </a:r>
          </a:p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JSON-RPC + streaming</a:t>
            </a:r>
          </a:p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Structured agreement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5C7B3A-ED96-453F-B2B2-8219963E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0025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0A23A"/>
                </a:solidFill>
              </a:defRPr>
            </a:pPr>
            <a:r>
              <a:rPr sz="2100" b="1">
                <a:solidFill>
                  <a:srgbClr val="F0A23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AB743-EB45-4A68-9C39-415065F5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619375"/>
            <a:ext cx="238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F7F6"/>
                </a:solidFill>
              </a:defRPr>
            </a:pPr>
            <a:r>
              <a:rPr sz="2100" b="1">
                <a:solidFill>
                  <a:srgbClr val="F5F7F6"/>
                </a:solidFill>
              </a:rPr>
              <a:t>Policy decides</a:t>
            </a:r>
          </a:p>
          <a:p xmlns:a="http://schemas.openxmlformats.org/drawingml/2006/main">
            <a:pPr algn="l">
              <a:defRPr sz="2100" b="1">
                <a:solidFill>
                  <a:srgbClr val="F5F7F6"/>
                </a:solidFill>
              </a:defRPr>
            </a:pPr>
            <a:r>
              <a:rPr sz="2100" b="1">
                <a:solidFill>
                  <a:srgbClr val="F5F7F6"/>
                </a:solidFill>
              </a:rPr>
              <a:t>what is allowed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8BD530-6F0A-45CC-A309-C4E59231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57625"/>
            <a:ext cx="238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Budget · unit price</a:t>
            </a:r>
          </a:p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Seller · quantity · 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6B102-4266-45C3-AB3F-0164C4BF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0025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2ED55"/>
                </a:solidFill>
              </a:defRPr>
            </a:pPr>
            <a:r>
              <a:rPr sz="2100" b="1">
                <a:solidFill>
                  <a:srgbClr val="F2ED55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98037D-3AC3-4843-86B9-CCDD3AA1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19375"/>
            <a:ext cx="2476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F7F6"/>
                </a:solidFill>
              </a:defRPr>
            </a:pPr>
            <a:r>
              <a:rPr sz="2100" b="1">
                <a:solidFill>
                  <a:srgbClr val="F5F7F6"/>
                </a:solidFill>
              </a:rPr>
              <a:t>A human approves</a:t>
            </a:r>
          </a:p>
          <a:p xmlns:a="http://schemas.openxmlformats.org/drawingml/2006/main">
            <a:pPr algn="l">
              <a:defRPr sz="2100" b="1">
                <a:solidFill>
                  <a:srgbClr val="F5F7F6"/>
                </a:solidFill>
              </a:defRPr>
            </a:pPr>
            <a:r>
              <a:rPr sz="2100" b="1">
                <a:solidFill>
                  <a:srgbClr val="F5F7F6"/>
                </a:solidFill>
              </a:rPr>
              <a:t>the exception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8C6A7A-5DDA-461B-884D-71488BA4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857625"/>
            <a:ext cx="2381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The workflow stops before payment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FB4A01-D06F-4F46-BD68-500E1DB2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0025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9270FF"/>
                </a:solidFill>
              </a:defRPr>
            </a:pPr>
            <a:r>
              <a:rPr sz="2100" b="1">
                <a:solidFill>
                  <a:srgbClr val="9270FF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61CFC-712F-4E3E-B52A-FF094B7B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619375"/>
            <a:ext cx="180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7F6"/>
                </a:solidFill>
              </a:defRPr>
            </a:pPr>
            <a:r>
              <a:rPr sz="1875" b="1">
                <a:solidFill>
                  <a:srgbClr val="F5F7F6"/>
                </a:solidFill>
              </a:rPr>
              <a:t>AP2 signs exact</a:t>
            </a:r>
          </a:p>
          <a:p xmlns:a="http://schemas.openxmlformats.org/drawingml/2006/main">
            <a:pPr algn="l">
              <a:defRPr sz="1875" b="1">
                <a:solidFill>
                  <a:srgbClr val="F5F7F6"/>
                </a:solidFill>
              </a:defRPr>
            </a:pPr>
            <a:r>
              <a:rPr sz="1875" b="1">
                <a:solidFill>
                  <a:srgbClr val="F5F7F6"/>
                </a:solidFill>
              </a:rPr>
              <a:t>payment permission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E216D0-F929-488C-9241-E927188D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857625"/>
            <a:ext cx="190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8A19F"/>
                </a:solidFill>
              </a:defRPr>
            </a:pPr>
            <a:r>
              <a:rPr sz="1275" b="0">
                <a:solidFill>
                  <a:srgbClr val="98A19F"/>
                </a:solidFill>
              </a:rPr>
              <a:t>Buyer · seller · product</a:t>
            </a:r>
          </a:p>
          <a:p xmlns:a="http://schemas.openxmlformats.org/drawingml/2006/main">
            <a:pPr algn="l">
              <a:defRPr sz="1275" b="0">
                <a:solidFill>
                  <a:srgbClr val="98A19F"/>
                </a:solidFill>
              </a:defRPr>
            </a:pPr>
            <a:r>
              <a:rPr sz="1275" b="0">
                <a:solidFill>
                  <a:srgbClr val="98A19F"/>
                </a:solidFill>
              </a:rPr>
              <a:t>Amount · recipient · expiry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439525-5ABB-49F1-AB0D-DAAF55DC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2ED55"/>
                </a:solidFill>
              </a:defRPr>
            </a:pPr>
            <a:r>
              <a:rPr sz="2025" b="1">
                <a:solidFill>
                  <a:srgbClr val="F2ED55"/>
                </a:solidFill>
              </a:rPr>
              <a:t>Agreement is not permission to spend.</a:t>
            </a:r>
          </a:p>
        </p:txBody>
      </p:sp>
    </p:spTree>
    <p:extLst>
      <p:ext uri="{BB962C8B-B14F-4D97-AF65-F5344CB8AC3E}">
        <p14:creationId xmlns:p14="http://schemas.microsoft.com/office/powerpoint/2010/main" val="177247764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527308-CEC8-491C-9AB5-4858EC72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ED55"/>
                </a:solidFill>
              </a:defRPr>
            </a:pPr>
            <a:r>
              <a:rPr sz="975" b="1">
                <a:solidFill>
                  <a:srgbClr val="F2ED55"/>
                </a:solidFill>
              </a:rPr>
              <a:t>MONAD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85BBA-787F-4915-AF19-2418C08E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F7F6"/>
                </a:solidFill>
              </a:defRPr>
            </a:pPr>
            <a:r>
              <a:rPr sz="2700" b="1">
                <a:solidFill>
                  <a:srgbClr val="F5F7F6"/>
                </a:solidFill>
              </a:rPr>
              <a:t>Monad settles native machine commerce.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15DA9-C2EF-466A-BBEF-3EDACFB5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50926B-083A-4233-AB05-83CC784C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8A19F"/>
                </a:solidFill>
              </a:defRPr>
            </a:pPr>
            <a:r>
              <a:rPr sz="900" b="1">
                <a:solidFill>
                  <a:srgbClr val="98A19F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4ED398-1B50-4454-9C29-ADBA3750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9270FF"/>
                </a:solidFill>
              </a:defRPr>
            </a:pPr>
            <a:r>
              <a:rPr sz="4800" b="1">
                <a:solidFill>
                  <a:srgbClr val="9270FF"/>
                </a:solidFill>
              </a:rPr>
              <a:t>x402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706ED-03F5-4157-9873-75761BB9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4191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7F6"/>
                </a:solidFill>
              </a:defRPr>
            </a:pPr>
            <a:r>
              <a:rPr sz="1725" b="1">
                <a:solidFill>
                  <a:srgbClr val="F5F7F6"/>
                </a:solidFill>
              </a:rPr>
              <a:t>The protected API returns a result only after test USDC settlement is verified.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5B43E-F9EE-416C-A889-6A225E43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810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Buyer and seller wallets</a:t>
            </a:r>
          </a:p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Monad Testnet USDC</a:t>
            </a:r>
          </a:p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x402 facilitator</a:t>
            </a:r>
          </a:p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AP2 authorization binding</a:t>
            </a:r>
          </a:p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Settlement response verification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6ce1e155374ab5"/>
          <a:srcRect xmlns:a="http://schemas.openxmlformats.org/drawingml/2006/main" l="10465" t="0" r="1046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91125" y="1619250"/>
            <a:ext cx="6334125" cy="3905250"/>
          </a:xfrm>
          <a:prstGeom xmlns:a="http://schemas.openxmlformats.org/drawingml/2006/main" prst="roundRect">
            <a:avLst>
              <a:gd name="adj" fmla="val 2927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B0216B-A2C1-4772-9045-671AE2EE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02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2ED55"/>
                </a:solidFill>
              </a:defRPr>
            </a:pPr>
            <a:r>
              <a:rPr sz="1275" b="1">
                <a:solidFill>
                  <a:srgbClr val="F2ED55"/>
                </a:solidFill>
              </a:rPr>
              <a:t>Optional high-value path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27EBD-229B-444D-B82D-16B2E86E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772150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8A19F"/>
                </a:solidFill>
              </a:defRPr>
            </a:pPr>
            <a:r>
              <a:rPr sz="1200" b="0">
                <a:solidFill>
                  <a:srgbClr val="98A19F"/>
                </a:solidFill>
              </a:rPr>
              <a:t>A deployed Solidity escrow records buyer, merchant, amount, deposit, expiry, and commercial terms.</a:t>
            </a:r>
          </a:p>
        </p:txBody>
      </p:sp>
    </p:spTree>
    <p:extLst>
      <p:ext uri="{BB962C8B-B14F-4D97-AF65-F5344CB8AC3E}">
        <p14:creationId xmlns:p14="http://schemas.microsoft.com/office/powerpoint/2010/main" val="5736000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22634-1B57-4157-A2F3-061A595F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ED55"/>
                </a:solidFill>
              </a:defRPr>
            </a:pPr>
            <a:r>
              <a:rPr sz="975" b="1">
                <a:solidFill>
                  <a:srgbClr val="F2ED55"/>
                </a:solidFill>
              </a:rPr>
              <a:t>RAIN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344D3B-9AEE-4730-BCCD-BE42C982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F7F6"/>
                </a:solidFill>
              </a:defRPr>
            </a:pPr>
            <a:r>
              <a:rPr sz="2700" b="1">
                <a:solidFill>
                  <a:srgbClr val="F5F7F6"/>
                </a:solidFill>
              </a:rPr>
              <a:t>Rain reaches the merchants that do not speak agent-native payments.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630F47-59E3-47A8-86FD-923B30EE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0E057D-1A9A-469D-B72F-9EA55DF1D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8A19F"/>
                </a:solidFill>
              </a:defRPr>
            </a:pPr>
            <a:r>
              <a:rPr sz="900" b="1">
                <a:solidFill>
                  <a:srgbClr val="98A19F"/>
                </a:solidFill>
              </a:rPr>
              <a:t>09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fe8651a76f4844"/>
          <a:srcRect xmlns:a="http://schemas.openxmlformats.org/drawingml/2006/main" l="8619" t="0" r="86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619250"/>
            <a:ext cx="695325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6A1FE4-ED42-43A7-B69D-537CD119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42BDEA"/>
                </a:solidFill>
              </a:defRPr>
            </a:pPr>
            <a:r>
              <a:rPr sz="2025" b="1">
                <a:solidFill>
                  <a:srgbClr val="42BDEA"/>
                </a:solidFill>
              </a:rPr>
              <a:t>Scoped card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79B3B0-2FAA-4355-8D27-2BC4EC3D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05050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Exact amount</a:t>
            </a:r>
          </a:p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Merchant-category restriction</a:t>
            </a:r>
          </a:p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One-hour expiration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F7421-2E34-451C-B596-B019E714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385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2ED55"/>
                </a:solidFill>
              </a:defRPr>
            </a:pPr>
            <a:r>
              <a:rPr sz="2025" b="1">
                <a:solidFill>
                  <a:srgbClr val="F2ED55"/>
                </a:solidFill>
              </a:rPr>
              <a:t>Policy proof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26299F-50F4-4427-AA59-9D15284E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33850"/>
            <a:ext cx="314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Mismatched merchant declines</a:t>
            </a:r>
          </a:p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Approved procurement settles</a:t>
            </a:r>
          </a:p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Final transaction is retrieved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3262A9-FFAA-49C5-A6B1-D695600B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721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7F6"/>
                </a:solidFill>
              </a:defRPr>
            </a:pPr>
            <a:r>
              <a:rPr sz="1500" b="1">
                <a:solidFill>
                  <a:srgbClr val="F5F7F6"/>
                </a:solidFill>
              </a:rPr>
              <a:t>The agent never receives an unrestricted card.</a:t>
            </a:r>
          </a:p>
        </p:txBody>
      </p:sp>
    </p:spTree>
    <p:extLst>
      <p:ext uri="{BB962C8B-B14F-4D97-AF65-F5344CB8AC3E}">
        <p14:creationId xmlns:p14="http://schemas.microsoft.com/office/powerpoint/2010/main" val="4019022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7076FE-056E-4290-8095-119410CA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ED55"/>
                </a:solidFill>
              </a:defRPr>
            </a:pPr>
            <a:r>
              <a:rPr sz="975" b="1">
                <a:solidFill>
                  <a:srgbClr val="F2ED55"/>
                </a:solidFill>
              </a:rPr>
              <a:t>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B7D3D1-8D06-4C6C-BAEC-1B32E96F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F7F6"/>
                </a:solidFill>
              </a:defRPr>
            </a:pPr>
            <a:r>
              <a:rPr sz="2700" b="1">
                <a:solidFill>
                  <a:srgbClr val="F5F7F6"/>
                </a:solidFill>
              </a:rPr>
              <a:t>The technical proof is working, and its boundaries are explicit.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86AF03-C7E7-4CAD-89F3-74B9D405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913D20-A58D-4F6B-80B8-FBBD65B4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8A19F"/>
                </a:solidFill>
              </a:defRPr>
            </a:pPr>
            <a:r>
              <a:rPr sz="900" b="1">
                <a:solidFill>
                  <a:srgbClr val="98A19F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0728E-950B-46A9-BE5C-891D57AA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5D29B"/>
                </a:solidFill>
              </a:defRPr>
            </a:pPr>
            <a:r>
              <a:rPr sz="1200" b="1">
                <a:solidFill>
                  <a:srgbClr val="45D29B"/>
                </a:solidFill>
              </a:rPr>
              <a:t>WORKING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66B88C-F3DD-4481-84B0-3AE790B4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2286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A2A v1.0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Deterministic controls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Human approval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Official AP2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Delivery verification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77AF7E-4A06-4F4D-8BD5-54F80B17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621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270FF"/>
                </a:solidFill>
              </a:defRPr>
            </a:pPr>
            <a:r>
              <a:rPr sz="1200" b="1">
                <a:solidFill>
                  <a:srgbClr val="9270FF"/>
                </a:solidFill>
              </a:rPr>
              <a:t>TESTNET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086DBC-AE6F-4869-B4DE-CE555E22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860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Monad x402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Test USDC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Buyer and seller wallets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Solidity escrow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81EFA4-BA66-4A9A-920A-EEDDBDC6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621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DEA"/>
                </a:solidFill>
              </a:defRPr>
            </a:pPr>
            <a:r>
              <a:rPr sz="1200" b="1">
                <a:solidFill>
                  <a:srgbClr val="42BDEA"/>
                </a:solidFill>
              </a:rPr>
              <a:t>SANDBOX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91A6A-B5AA-4BA3-8FCB-4CE77038C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860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Rain cards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Authorization and settlement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Transactions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Treasury routes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A03B66-0019-4B38-9182-DE7A9F85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621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7B"/>
                </a:solidFill>
              </a:defRPr>
            </a:pPr>
            <a:r>
              <a:rPr sz="1200" b="1">
                <a:solidFill>
                  <a:srgbClr val="FF6B7B"/>
                </a:solidFill>
              </a:rPr>
              <a:t>CONTROLLED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15456D-1144-46A5-B7B4-BB08404D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860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Example counterparties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Provider offers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LAANC limits</a:t>
            </a:r>
          </a:p>
          <a:p xmlns:a="http://schemas.openxmlformats.org/drawingml/2006/main">
            <a:pPr algn="l">
              <a:defRPr sz="1500" b="0">
                <a:solidFill>
                  <a:srgbClr val="F5F7F6"/>
                </a:solidFill>
              </a:defRPr>
            </a:pPr>
            <a:r>
              <a:rPr sz="1500" b="0">
                <a:solidFill>
                  <a:srgbClr val="F5F7F6"/>
                </a:solidFill>
              </a:rPr>
              <a:t>Readiness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2E663B-0F07-47B8-AF93-DEF6E172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9B8838-F93F-4E74-BA43-91B85858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2ED55"/>
                </a:solidFill>
              </a:defRPr>
            </a:pPr>
            <a:r>
              <a:rPr sz="3150" b="1">
                <a:solidFill>
                  <a:srgbClr val="F2ED55"/>
                </a:solidFill>
              </a:rPr>
              <a:t>18/18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299615-F43B-47BB-86C7-E9A9BAED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197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7F6"/>
                </a:solidFill>
              </a:defRPr>
            </a:pPr>
            <a:r>
              <a:rPr sz="1500" b="1">
                <a:solidFill>
                  <a:srgbClr val="F5F7F6"/>
                </a:solidFill>
              </a:rPr>
              <a:t>deployed PreFlight operations return HTTP 200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C5E944-0683-433D-A343-F0794976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53125"/>
            <a:ext cx="981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8A19F"/>
                </a:solidFill>
              </a:defRPr>
            </a:pPr>
            <a:r>
              <a:rPr sz="1275" b="0">
                <a:solidFill>
                  <a:srgbClr val="98A19F"/>
                </a:solidFill>
              </a:rPr>
              <a:t>No production banking, mainnet funds, or unrelated external A2A counterparty is claimed.</a:t>
            </a:r>
          </a:p>
        </p:txBody>
      </p:sp>
    </p:spTree>
    <p:extLst>
      <p:ext uri="{BB962C8B-B14F-4D97-AF65-F5344CB8AC3E}">
        <p14:creationId xmlns:p14="http://schemas.microsoft.com/office/powerpoint/2010/main" val="5873731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F4E9B2-FF1B-4745-85DD-14B3341D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ED55"/>
                </a:solidFill>
              </a:defRPr>
            </a:pPr>
            <a:r>
              <a:rPr sz="975" b="1">
                <a:solidFill>
                  <a:srgbClr val="F2ED55"/>
                </a:solidFill>
              </a:rPr>
              <a:t>WHY IT WINS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4CA386-A174-49CE-922A-862D02E7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F7F6"/>
                </a:solidFill>
              </a:defRPr>
            </a:pPr>
            <a:r>
              <a:rPr sz="2700" b="1">
                <a:solidFill>
                  <a:srgbClr val="F5F7F6"/>
                </a:solidFill>
              </a:rPr>
              <a:t>One build directly addresses all three tracks.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62BDE-9DBA-419E-8101-1084F03D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BE047E-799E-4006-9DAD-9EE79D83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8A19F"/>
                </a:solidFill>
              </a:defRPr>
            </a:pPr>
            <a:r>
              <a:rPr sz="900" b="1">
                <a:solidFill>
                  <a:srgbClr val="98A19F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E0A641-1E16-40DE-B004-AA41A8EB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2BDEA"/>
                </a:solidFill>
              </a:defRPr>
            </a:pPr>
            <a:r>
              <a:rPr sz="2100" b="1">
                <a:solidFill>
                  <a:srgbClr val="42BDEA"/>
                </a:solidFill>
              </a:rPr>
              <a:t>Best use of Rain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637154-27D6-441B-B8B5-8C55F999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314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AP2-scoped cards, real policy declines, approved settlement, transaction retrieval, and treasury routes.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379C31-156C-4BC7-8BD7-09BAB5FB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714500"/>
            <a:ext cx="95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F9FB1E-CD36-44C4-B6C3-01803CEC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4D4CA"/>
                </a:solidFill>
              </a:defRPr>
            </a:pPr>
            <a:r>
              <a:rPr sz="2100" b="1">
                <a:solidFill>
                  <a:srgbClr val="64D4CA"/>
                </a:solidFill>
              </a:rPr>
              <a:t>General track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A6BC74-42C2-473C-80F8-1F575FB0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33625"/>
            <a:ext cx="285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Agents discover, negotiate, stop for approval, move test or sandbox money, and verify delivery.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E01D4A-0A2A-4B85-AF23-4ECA8F9B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714500"/>
            <a:ext cx="95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735"/>
          </a:solidFill>
          <a:ln xmlns:a="http://schemas.openxmlformats.org/drawingml/2006/main" w="0">
            <a:solidFill>
              <a:srgbClr val="2B37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9E48B8-8F6F-433B-99E5-0E155C40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621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9270FF"/>
                </a:solidFill>
              </a:defRPr>
            </a:pPr>
            <a:r>
              <a:rPr sz="2100" b="1">
                <a:solidFill>
                  <a:srgbClr val="9270FF"/>
                </a:solidFill>
              </a:rPr>
              <a:t>Monad + Rain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9350F5-9C0F-4C90-84B9-170B5432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333625"/>
            <a:ext cx="314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F"/>
                </a:solidFill>
              </a:defRPr>
            </a:pPr>
            <a:r>
              <a:rPr sz="1350" b="0">
                <a:solidFill>
                  <a:srgbClr val="98A19F"/>
                </a:solidFill>
              </a:rPr>
              <a:t>Monad handles machine settlement. Rain handles traditional procurement. One policy layer chooses both.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82302F-AA58-40D1-8C43-8D12F8DB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7F6"/>
                </a:solidFill>
              </a:defRPr>
            </a:pPr>
            <a:r>
              <a:rPr sz="2550" b="1">
                <a:solidFill>
                  <a:srgbClr val="F5F7F6"/>
                </a:solidFill>
              </a:rPr>
              <a:t>Raingentic turns a company's existing commerce into governed agent infrastructure.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5AFE08-13EE-409B-9180-1878A3B5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ED55"/>
                </a:solidFill>
              </a:defRPr>
            </a:pPr>
            <a:r>
              <a:rPr sz="1350" b="1">
                <a:solidFill>
                  <a:srgbClr val="F2ED55"/>
                </a:solidFill>
              </a:rPr>
              <a:t>raingentic.saibolla.com</a:t>
            </a:r>
          </a:p>
        </p:txBody>
      </p:sp>
    </p:spTree>
    <p:extLst>
      <p:ext uri="{BB962C8B-B14F-4D97-AF65-F5344CB8AC3E}">
        <p14:creationId xmlns:p14="http://schemas.microsoft.com/office/powerpoint/2010/main" val="14850032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2026-08-09T13:24:52.8390000Z</dcterms:created>
  <dcterms:modified xsi:type="dcterms:W3CDTF">2026-08-09T13:24:52.8390000Z</dcterms:modified>
</coreProperties>
</file>