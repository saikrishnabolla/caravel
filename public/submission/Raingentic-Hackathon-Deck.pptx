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72c76550ce48fb" /><Relationship Type="http://schemas.openxmlformats.org/officeDocument/2006/relationships/extended-properties" Target="/docProps/app.xml" Id="R4c62a7a8a95c454a" /><Relationship Type="http://schemas.openxmlformats.org/officeDocument/2006/relationships/officeDocument" Target="/ppt/presentation.xml" Id="R5a4571d7c13f4f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4bf1a3792343d5"/>
  </p:sldMasterIdLst>
  <p:notesMasterIdLst>
    <p:notesMasterId xmlns:r="http://schemas.openxmlformats.org/officeDocument/2006/relationships" r:id="R2df4dcfa048f4ed4"/>
  </p:notesMasterIdLst>
  <p:sldIdLst>
    <p:sldId xmlns:r="http://schemas.openxmlformats.org/officeDocument/2006/relationships" id="256" r:id="R81401f3c8ce74040"/>
    <p:sldId xmlns:r="http://schemas.openxmlformats.org/officeDocument/2006/relationships" id="257" r:id="R67e4a37d03f1402e"/>
    <p:sldId xmlns:r="http://schemas.openxmlformats.org/officeDocument/2006/relationships" id="258" r:id="Rff02ef87c1f9455f"/>
    <p:sldId xmlns:r="http://schemas.openxmlformats.org/officeDocument/2006/relationships" id="259" r:id="R7e0d9cf3c0ac400b"/>
    <p:sldId xmlns:r="http://schemas.openxmlformats.org/officeDocument/2006/relationships" id="260" r:id="R3f51729c492742e7"/>
    <p:sldId xmlns:r="http://schemas.openxmlformats.org/officeDocument/2006/relationships" id="261" r:id="R512a64c428724e54"/>
    <p:sldId xmlns:r="http://schemas.openxmlformats.org/officeDocument/2006/relationships" id="262" r:id="R43415116cf5840f1"/>
    <p:sldId xmlns:r="http://schemas.openxmlformats.org/officeDocument/2006/relationships" id="263" r:id="R28b1707359d1449c"/>
    <p:sldId xmlns:r="http://schemas.openxmlformats.org/officeDocument/2006/relationships" id="264" r:id="R02b41299ca82482c"/>
    <p:sldId xmlns:r="http://schemas.openxmlformats.org/officeDocument/2006/relationships" id="265" r:id="Rf3f59f476aaf4d3e"/>
    <p:sldId xmlns:r="http://schemas.openxmlformats.org/officeDocument/2006/relationships" id="266" r:id="R292dd0b410bf4dad"/>
    <p:sldId xmlns:r="http://schemas.openxmlformats.org/officeDocument/2006/relationships" id="267" r:id="R669ae9b29abe4a41"/>
    <p:sldId xmlns:r="http://schemas.openxmlformats.org/officeDocument/2006/relationships" id="268" r:id="R54adcc4dd8e24f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8d64519354bc0" /><Relationship Type="http://schemas.openxmlformats.org/officeDocument/2006/relationships/slideMaster" Target="/ppt/slideMasters/slideMaster1.xml" Id="Red4bf1a3792343d5" /><Relationship Type="http://schemas.openxmlformats.org/officeDocument/2006/relationships/notesMaster" Target="/ppt/notesMasters/notesMaster1.xml" Id="R2df4dcfa048f4ed4" /><Relationship Type="http://schemas.openxmlformats.org/officeDocument/2006/relationships/presProps" Target="/ppt/presProps.xml" Id="Rf28de7b7a3624e4d" /><Relationship Type="http://schemas.openxmlformats.org/officeDocument/2006/relationships/tableStyles" Target="/ppt/tableStyles.xml" Id="R673cb024b15a4c5f" /><Relationship Type="http://schemas.openxmlformats.org/officeDocument/2006/relationships/slide" Target="/ppt/slides/slide1.xml" Id="R81401f3c8ce74040" /><Relationship Type="http://schemas.openxmlformats.org/officeDocument/2006/relationships/slide" Target="/ppt/slides/slide2.xml" Id="R67e4a37d03f1402e" /><Relationship Type="http://schemas.openxmlformats.org/officeDocument/2006/relationships/slide" Target="/ppt/slides/slide3.xml" Id="Rff02ef87c1f9455f" /><Relationship Type="http://schemas.openxmlformats.org/officeDocument/2006/relationships/slide" Target="/ppt/slides/slide4.xml" Id="R7e0d9cf3c0ac400b" /><Relationship Type="http://schemas.openxmlformats.org/officeDocument/2006/relationships/slide" Target="/ppt/slides/slide5.xml" Id="R3f51729c492742e7" /><Relationship Type="http://schemas.openxmlformats.org/officeDocument/2006/relationships/slide" Target="/ppt/slides/slide6.xml" Id="R512a64c428724e54" /><Relationship Type="http://schemas.openxmlformats.org/officeDocument/2006/relationships/slide" Target="/ppt/slides/slide7.xml" Id="R43415116cf5840f1" /><Relationship Type="http://schemas.openxmlformats.org/officeDocument/2006/relationships/slide" Target="/ppt/slides/slide8.xml" Id="R28b1707359d1449c" /><Relationship Type="http://schemas.openxmlformats.org/officeDocument/2006/relationships/slide" Target="/ppt/slides/slide9.xml" Id="R02b41299ca82482c" /><Relationship Type="http://schemas.openxmlformats.org/officeDocument/2006/relationships/slide" Target="/ppt/slides/slide10.xml" Id="Rf3f59f476aaf4d3e" /><Relationship Type="http://schemas.openxmlformats.org/officeDocument/2006/relationships/slide" Target="/ppt/slides/slide11.xml" Id="R292dd0b410bf4dad" /><Relationship Type="http://schemas.openxmlformats.org/officeDocument/2006/relationships/slide" Target="/ppt/slides/slide12.xml" Id="R669ae9b29abe4a41" /><Relationship Type="http://schemas.openxmlformats.org/officeDocument/2006/relationships/slide" Target="/ppt/slides/slide13.xml" Id="R54adcc4dd8e24f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39233de4fd41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79f3ea77b54b41" /><Relationship Type="http://schemas.openxmlformats.org/officeDocument/2006/relationships/notesMaster" Target="/ppt/notesMasters/notesMaster1.xml" Id="R37f97bc3ab8346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8e283a9bf345b7" /><Relationship Type="http://schemas.openxmlformats.org/officeDocument/2006/relationships/notesMaster" Target="/ppt/notesMasters/notesMaster1.xml" Id="R35cef86b30cc4d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0a1b093deb443c" /><Relationship Type="http://schemas.openxmlformats.org/officeDocument/2006/relationships/notesMaster" Target="/ppt/notesMasters/notesMaster1.xml" Id="Rbfb231b9076b48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382d10de5e427f" /><Relationship Type="http://schemas.openxmlformats.org/officeDocument/2006/relationships/notesMaster" Target="/ppt/notesMasters/notesMaster1.xml" Id="R5653dac569e24d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0563f4cf9140fa" /><Relationship Type="http://schemas.openxmlformats.org/officeDocument/2006/relationships/notesMaster" Target="/ppt/notesMasters/notesMaster1.xml" Id="Ra1a928d2ae8b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726d844ecf4b76" /><Relationship Type="http://schemas.openxmlformats.org/officeDocument/2006/relationships/notesMaster" Target="/ppt/notesMasters/notesMaster1.xml" Id="R2d94d278b1fc46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794761248b425a" /><Relationship Type="http://schemas.openxmlformats.org/officeDocument/2006/relationships/notesMaster" Target="/ppt/notesMasters/notesMaster1.xml" Id="R20a9302a85e243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cdcdbd6cbb4688" /><Relationship Type="http://schemas.openxmlformats.org/officeDocument/2006/relationships/notesMaster" Target="/ppt/notesMasters/notesMaster1.xml" Id="R08548887902c49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03ec57a6f445cd" /><Relationship Type="http://schemas.openxmlformats.org/officeDocument/2006/relationships/notesMaster" Target="/ppt/notesMasters/notesMaster1.xml" Id="R89fb72cd49f04d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af893792004715" /><Relationship Type="http://schemas.openxmlformats.org/officeDocument/2006/relationships/notesMaster" Target="/ppt/notesMasters/notesMaster1.xml" Id="R99fc509f6f1742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e0f054120c4e8f" /><Relationship Type="http://schemas.openxmlformats.org/officeDocument/2006/relationships/notesMaster" Target="/ppt/notesMasters/notesMaster1.xml" Id="R7b6a325a020745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7ead48f7534a13" /><Relationship Type="http://schemas.openxmlformats.org/officeDocument/2006/relationships/notesMaster" Target="/ppt/notesMasters/notesMaster1.xml" Id="R79ef6f9d5bbf4e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79a002c9a649b6" /><Relationship Type="http://schemas.openxmlformats.org/officeDocument/2006/relationships/notesMaster" Target="/ppt/notesMasters/notesMaster1.xml" Id="R70a9634f29dd49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agents can negotiate and move money, but only inside company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https://raingentic.saibolla.com</a:t>
            </a:r>
          </a:p>
          <a:p xmlns:a="http://schemas.openxmlformats.org/drawingml/2006/main">
            <a:r>
              <a:t>- Repository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around company authority, not crypto. Businesses already have money and products; agents lack safe permission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Raingentic product thesis</a:t>
            </a:r>
          </a:p>
          <a:p xmlns:a="http://schemas.openxmlformats.org/drawingml/2006/main">
            <a:r>
              <a:t>- Repository docs/research/10-platform-sdk-vision.md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claim: businesses connect what they already have and become agent-commerce ready in hours. The included skill makes implementation agent-led instead of documentation-led.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skills/</a:t>
            </a:r>
          </a:p>
          <a:p xmlns:a="http://schemas.openxmlformats.org/drawingml/2006/main">
            <a:r>
              <a:t>- Repository src/lib/setup-agent.ts</a:t>
            </a:r>
          </a:p>
          <a:p xmlns:a="http://schemas.openxmlformats.org/drawingml/2006/main">
            <a:r>
              <a:t>- https://raingentic.saibolla.com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Raingentic is not a new storefront. The same company configuration governs purchasing agents and seller agents around the systems the business already operates.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https://raingentic.saibolla.com/dashboard</a:t>
            </a:r>
          </a:p>
          <a:p xmlns:a="http://schemas.openxmlformats.org/drawingml/2006/main">
            <a:r>
              <a:t>- Repository src/components/commerce-dashboard.tsx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seller onboarding is not a mock catalog. It imports the deployed PreFlight specification and preserves evidence status and per-operation prices.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https://preflight.saibolla.com/openapi.json</a:t>
            </a:r>
          </a:p>
          <a:p xmlns:a="http://schemas.openxmlformats.org/drawingml/2006/main">
            <a:r>
              <a:t>- https://raingentic.saibolla.com/api/catalog/import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buying interface is conversational, but the result is a structured mandate enforced by normal application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src/lib/agent.ts</a:t>
            </a:r>
          </a:p>
          <a:p xmlns:a="http://schemas.openxmlformats.org/drawingml/2006/main">
            <a:r>
              <a:t>- Repository src/app/api/purchases/run/route.ts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A2A is the commercial conversation layer. The demo publishes an official v1.0 Agent Card and performs discovery, requests, counteroffers, and agreement through JSON-RPC and streaming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https://raingentic.saibolla.com/.well-known/agent-card.json</a:t>
            </a:r>
          </a:p>
          <a:p xmlns:a="http://schemas.openxmlformats.org/drawingml/2006/main">
            <a:r>
              <a:t>- Repository src/lib/a2a.ts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 and approval decide whether the agreement is acceptable. Google's official AP2 SDK then signs the exact permitted payment. Tampered amounts, wrong recipients, products, or expirations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https://github.com/google-agentic-commerce/AP2</a:t>
            </a:r>
          </a:p>
          <a:p xmlns:a="http://schemas.openxmlformats.org/drawingml/2006/main">
            <a:r>
              <a:t>- Repository src/lib/ap2.ts</a:t>
            </a:r>
          </a:p>
          <a:p xmlns:a="http://schemas.openxmlformats.org/drawingml/2006/main">
            <a:r>
              <a:t>- Repository src/app/api/purchases/run/route.ts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business does not choose one rail forever. Product type and company policy route each authorized purchase to Monad x402, Rain, escrow, or the checkout already in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src/lib/monad.ts</a:t>
            </a:r>
          </a:p>
          <a:p xmlns:a="http://schemas.openxmlformats.org/drawingml/2006/main">
            <a:r>
              <a:t>- Repository src/lib/rain.ts</a:t>
            </a:r>
          </a:p>
          <a:p xmlns:a="http://schemas.openxmlformats.org/drawingml/2006/main">
            <a:r>
              <a:t>- Repository contracts/RaingenticCommerceEscrow.sol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Rain provides the bridge to existing merchants and the treasury surface needed for stablecoin movement. The demo includes scoped-card lifecycle plus payment-account and route operations, on-ramp, and off-ramp simulations.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src/lib/rain.ts</a:t>
            </a:r>
          </a:p>
          <a:p xmlns:a="http://schemas.openxmlformats.org/drawingml/2006/main">
            <a:r>
              <a:t>- Rain sandbox documentation supplied for the hackathon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receipt ties commercial agreement, authorization, settlement, and delivery to the same mandate. This is the audit layer businesses need before agents can transact autonomously.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src/app/api/purchases/run/route.ts</a:t>
            </a:r>
          </a:p>
          <a:p xmlns:a="http://schemas.openxmlformats.org/drawingml/2006/main">
            <a:r>
              <a:t>- Repository src/components/commerce-doc-components.tsx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across the full system: seller setup, buyer negotiation, deterministic controls, AP2, payment routing, delivery, evidence provenance, and treasury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docs/architecture.svg</a:t>
            </a:r>
          </a:p>
          <a:p xmlns:a="http://schemas.openxmlformats.org/drawingml/2006/main">
            <a:r>
              <a:t>- Repository docs/architecture.excalidraw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adoption, not protocol novelty. Raingentic makes Rain and Monad usable by existing businesses without rebuilding their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Hackathon challenge statement</a:t>
            </a:r>
          </a:p>
          <a:p xmlns:a="http://schemas.openxmlformats.org/drawingml/2006/main">
            <a:r>
              <a:t>- Repository README.md</a:t>
            </a:r>
          </a:p>
          <a:p xmlns:a="http://schemas.openxmlformats.org/drawingml/2006/main">
            <a:r>
              <a:t>- https://raingentic.saibolla.com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a396a184542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676f622f741e1" /><Relationship Type="http://schemas.openxmlformats.org/officeDocument/2006/relationships/slideLayout" Target="/ppt/slideLayouts/slideLayout1.xml" Id="R3eb24d60779344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b24d60779344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0626d5c1d4815" /><Relationship Type="http://schemas.openxmlformats.org/officeDocument/2006/relationships/image" Target="/ppt/media/image.jpeg" Id="R692f1e8d7c274ad9" /><Relationship Type="http://schemas.openxmlformats.org/officeDocument/2006/relationships/notesSlide" Target="/ppt/notesSlides/notesSlide1.xml" Id="R66d17b7b35e54b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ad708934a4421" /><Relationship Type="http://schemas.openxmlformats.org/officeDocument/2006/relationships/notesSlide" Target="/ppt/notesSlides/notesSlide2.xml" Id="R1684992d900248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681b9eaf44228" /><Relationship Type="http://schemas.openxmlformats.org/officeDocument/2006/relationships/notesSlide" Target="/ppt/notesSlides/notesSlide3.xml" Id="Re81a7d5109c44c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e248d6da24cd5" /><Relationship Type="http://schemas.openxmlformats.org/officeDocument/2006/relationships/image" Target="/ppt/media/image2.jpeg" Id="Rb7068acef88a4825" /><Relationship Type="http://schemas.openxmlformats.org/officeDocument/2006/relationships/notesSlide" Target="/ppt/notesSlides/notesSlide4.xml" Id="R23aba2dc481d45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159109e7b4c9c" /><Relationship Type="http://schemas.openxmlformats.org/officeDocument/2006/relationships/image" Target="/ppt/media/image3.jpeg" Id="Rae4dd38d9f61408a" /><Relationship Type="http://schemas.openxmlformats.org/officeDocument/2006/relationships/notesSlide" Target="/ppt/notesSlides/notesSlide5.xml" Id="Rc492d1058c204c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ab4ccc874bde" /><Relationship Type="http://schemas.openxmlformats.org/officeDocument/2006/relationships/image" Target="/ppt/media/image4.jpeg" Id="R08fcf98bb10c4b54" /><Relationship Type="http://schemas.openxmlformats.org/officeDocument/2006/relationships/notesSlide" Target="/ppt/notesSlides/notesSlide6.xml" Id="R21896ea3b8e24e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3ee517f0d4a38" /><Relationship Type="http://schemas.openxmlformats.org/officeDocument/2006/relationships/notesSlide" Target="/ppt/notesSlides/notesSlide7.xml" Id="R67829cc003364e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00ae3d4e44262" /><Relationship Type="http://schemas.openxmlformats.org/officeDocument/2006/relationships/image" Target="/ppt/media/image5.jpeg" Id="Rad00fc23d8134aa8" /><Relationship Type="http://schemas.openxmlformats.org/officeDocument/2006/relationships/notesSlide" Target="/ppt/notesSlides/notesSlide8.xml" Id="R8f18b27010d14a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b219b44624b66" /><Relationship Type="http://schemas.openxmlformats.org/officeDocument/2006/relationships/notesSlide" Target="/ppt/notesSlides/notesSlide9.xml" Id="Racb0705ab9084d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4805d76d94cd2" /><Relationship Type="http://schemas.openxmlformats.org/officeDocument/2006/relationships/image" Target="/ppt/media/image6.jpeg" Id="Rc10eb42174cd4e1e" /><Relationship Type="http://schemas.openxmlformats.org/officeDocument/2006/relationships/image" Target="/ppt/media/image7.jpeg" Id="Rc1936bb401a2491d" /><Relationship Type="http://schemas.openxmlformats.org/officeDocument/2006/relationships/notesSlide" Target="/ppt/notesSlides/notesSlide10.xml" Id="Ree1892999fff49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f541fea604f9f" /><Relationship Type="http://schemas.openxmlformats.org/officeDocument/2006/relationships/image" Target="/ppt/media/image8.jpeg" Id="R17769f4ff33a4bb8" /><Relationship Type="http://schemas.openxmlformats.org/officeDocument/2006/relationships/notesSlide" Target="/ppt/notesSlides/notesSlide11.xml" Id="R07cf809df0b04e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ae68a28924b80" /><Relationship Type="http://schemas.openxmlformats.org/officeDocument/2006/relationships/image" Target="/ppt/media/image.png" Id="R37e16ee7e3774e19" /><Relationship Type="http://schemas.openxmlformats.org/officeDocument/2006/relationships/notesSlide" Target="/ppt/notesSlides/notesSlide12.xml" Id="R64e285b0c7c447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2a13be0484e9c" /><Relationship Type="http://schemas.openxmlformats.org/officeDocument/2006/relationships/notesSlide" Target="/ppt/notesSlides/notesSlide13.xml" Id="R3775fac9db6544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f1e8d7c274ad9"/>
          <a:srcRect xmlns:a="http://schemas.openxmlformats.org/drawingml/2006/main" l="25602" t="0" r="256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269B4-C9B1-4299-BBC5-E6C3067B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oundRect">
            <a:avLst>
              <a:gd name="adj" fmla="val 1194"/>
            </a:avLst>
          </a:prstGeom>
          <a:solidFill xmlns:a="http://schemas.openxmlformats.org/drawingml/2006/main">
            <a:srgbClr val="0B1111"/>
          </a:solidFill>
          <a:ln xmlns:a="http://schemas.openxmlformats.org/drawingml/2006/main" w="9525">
            <a:solidFill>
              <a:srgbClr val="0B111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BE4C0-79DC-4D3D-AFD1-AC0D1F43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55"/>
          </a:solidFill>
          <a:ln xmlns:a="http://schemas.openxmlformats.org/drawingml/2006/main" w="0">
            <a:solidFill>
              <a:srgbClr val="F2ED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C29DB-D1D4-4D56-886A-DCAE8466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6"/>
                </a:solidFill>
              </a:defRPr>
            </a:pPr>
            <a:r>
              <a:rPr sz="4350" b="1">
                <a:solidFill>
                  <a:srgbClr val="F5F7F6"/>
                </a:solidFill>
              </a:rPr>
              <a:t>Raingentic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7303F-D3DB-4AE5-AEFC-F9FED08D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6"/>
                </a:solidFill>
              </a:defRPr>
            </a:pPr>
            <a:r>
              <a:rPr sz="2175" b="1">
                <a:solidFill>
                  <a:srgbClr val="F5F7F6"/>
                </a:solidFill>
              </a:rPr>
              <a:t>Make your existing business agent-commerce ready in hours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DE83D-2273-4F05-965E-DF6A8AF2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Connect an API or online store. Raingentic configures the products, policies, agent skills, and payment rails needed to buy and sell through agents.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F31F9-4255-4E7C-B7BA-093F50C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D55"/>
                </a:solidFill>
              </a:defRPr>
            </a:pPr>
            <a:r>
              <a:rPr sz="1200" b="1">
                <a:solidFill>
                  <a:srgbClr val="F2ED55"/>
                </a:solidFill>
              </a:rPr>
              <a:t>raingentic.saibolla.com</a:t>
            </a:r>
          </a:p>
        </p:txBody>
      </p:sp>
    </p:spTree>
    <p:extLst>
      <p:ext uri="{BB962C8B-B14F-4D97-AF65-F5344CB8AC3E}">
        <p14:creationId xmlns:p14="http://schemas.microsoft.com/office/powerpoint/2010/main" val="129440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F5708-A8D6-4EA2-9090-852928DE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78E56-D491-4469-8873-74F8EA5B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Agents can reason. Businesses still cannot safely let them transact.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09A9E-7E91-4F4C-BA3D-D07AE06C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195AE-1524-4CB0-BCA2-6A9D8955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D11A5-BAF5-415B-B1BC-C2173BBC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6"/>
                </a:solidFill>
              </a:defRPr>
            </a:pPr>
            <a:r>
              <a:rPr sz="2100" b="1">
                <a:solidFill>
                  <a:srgbClr val="F5F7F6"/>
                </a:solidFill>
              </a:rPr>
              <a:t>Products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4272C-1EE4-4BAE-972A-D0F6C16C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APIs, services, subscriptions, and physical goods already live across disconnected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E3E32-C8BE-4334-A2AD-CBA7A9D2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BE812-D9B6-4ECF-8AB9-E5BFA9D7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6"/>
                </a:solidFill>
              </a:defRPr>
            </a:pPr>
            <a:r>
              <a:rPr sz="2100" b="1">
                <a:solidFill>
                  <a:srgbClr val="F5F7F6"/>
                </a:solidFill>
              </a:rPr>
              <a:t>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B711B-C80A-42FA-9DF1-D186BAD9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003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Budgets, approval thresholds, seller restrictions, and payment permissions are not native to agents.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7CE36-B370-47F9-90B9-CF070BAF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8E68A-D9D8-4B88-BF2C-E7749A2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6"/>
                </a:solidFill>
              </a:defRPr>
            </a:pPr>
            <a:r>
              <a:rPr sz="2100" b="1">
                <a:solidFill>
                  <a:srgbClr val="F5F7F6"/>
                </a:solidFill>
              </a:rPr>
              <a:t>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77538-079E-48DE-A5F5-65A15D37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Stablecoin rails and card rails solve different purchases, with no shared control or receipt layer.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0BB94-E7E6-47FB-8A0D-01C8E9BF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ED55"/>
                </a:solidFill>
              </a:defRPr>
            </a:pPr>
            <a:r>
              <a:rPr sz="2100" b="1">
                <a:solidFill>
                  <a:srgbClr val="F2ED55"/>
                </a:solidFill>
              </a:rPr>
              <a:t>The missing product is not another wallet. It is governed commercial authority.</a:t>
            </a:r>
          </a:p>
        </p:txBody>
      </p:sp>
    </p:spTree>
    <p:extLst>
      <p:ext uri="{BB962C8B-B14F-4D97-AF65-F5344CB8AC3E}">
        <p14:creationId xmlns:p14="http://schemas.microsoft.com/office/powerpoint/2010/main" val="854834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8409B-4E96-43B8-B23D-88A918C2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669EB-74C1-4343-A9A7-23BCEA2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From an existing API or store to agent commerce in hours.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F34F7-A7D4-464D-A11D-FBEEAE3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ECA4D-92C2-41CD-9112-C31EF307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65B2C-2DF3-40E6-9AA6-5973AD98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ED55"/>
                </a:solidFill>
              </a:defRPr>
            </a:pPr>
            <a:r>
              <a:rPr sz="1725" b="1">
                <a:solidFill>
                  <a:srgbClr val="F2ED5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10679-9BF9-4D4E-B5EC-72924EC0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6"/>
                </a:solidFill>
              </a:defRPr>
            </a:pPr>
            <a:r>
              <a:rPr sz="2100" b="1">
                <a:solidFill>
                  <a:srgbClr val="F5F7F6"/>
                </a:solidFill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64362-C655-4826-AD98-E3A6CD23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OpenAPI document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Online store or catalog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Billing or internal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5A5E0-DD99-4639-8438-A8F3A564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19A33-C37D-4264-8751-C3E8416D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4D4CA"/>
                </a:solidFill>
              </a:defRPr>
            </a:pPr>
            <a:r>
              <a:rPr sz="1725" b="1">
                <a:solidFill>
                  <a:srgbClr val="64D4C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B94C2-1304-4278-84D1-B1C2CDB7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38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6"/>
                </a:solidFill>
              </a:defRPr>
            </a:pPr>
            <a:r>
              <a:rPr sz="2100" b="1">
                <a:solidFill>
                  <a:srgbClr val="F5F7F6"/>
                </a:solidFill>
              </a:rPr>
              <a:t>Configure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84376-A94D-4FB9-AD84-9B1DFE98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Products and prices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Negotiation boundaries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Approvals and payment rails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8AD91-F220-4D62-A107-B6DE5271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BD3AA-BB4D-4687-A8C7-17E53D5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270FF"/>
                </a:solidFill>
              </a:defRPr>
            </a:pPr>
            <a:r>
              <a:rPr sz="1725" b="1">
                <a:solidFill>
                  <a:srgbClr val="9270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A152B-A263-4B74-B8DD-BAD95CD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38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6"/>
                </a:solidFill>
              </a:defRPr>
            </a:pPr>
            <a:r>
              <a:rPr sz="2100" b="1">
                <a:solidFill>
                  <a:srgbClr val="F5F7F6"/>
                </a:solidFill>
              </a:rPr>
              <a:t>Publish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FA5E4-D9DC-43F4-8DB5-EC0526BF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813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Buyer and seller agents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Agent Card and commerce contract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Skills and SDK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9EE9F-DE43-42E9-BC8D-395EC2B6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47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6201F"/>
          </a:solidFill>
          <a:ln xmlns:a="http://schemas.openxmlformats.org/drawingml/2006/main" w="9525">
            <a:solidFill>
              <a:srgbClr val="2B37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7160E-2259-44C3-ADA4-B29C195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D55"/>
                </a:solidFill>
              </a:defRPr>
            </a:pPr>
            <a:r>
              <a:rPr sz="1350" b="1">
                <a:solidFill>
                  <a:srgbClr val="F2ED55"/>
                </a:solidFill>
              </a:rPr>
              <a:t>Included agent skill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E370C-6ABA-4E48-BACB-F1812D69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6"/>
                </a:solidFill>
              </a:defRPr>
            </a:pPr>
            <a:r>
              <a:rPr sz="1500" b="1">
                <a:solidFill>
                  <a:srgbClr val="F5F7F6"/>
                </a:solidFill>
              </a:rPr>
              <a:t>Point Claude, Codex, or another coding agent at the skill. It inspects the business, asks for the required Rain and Monad credentials, and prepares the integration.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4AF4B-9136-4096-805B-FC770C9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Keep the API, store, inventory, checkout, and fulfillment systems you already use.</a:t>
            </a:r>
          </a:p>
        </p:txBody>
      </p:sp>
    </p:spTree>
    <p:extLst>
      <p:ext uri="{BB962C8B-B14F-4D97-AF65-F5344CB8AC3E}">
        <p14:creationId xmlns:p14="http://schemas.microsoft.com/office/powerpoint/2010/main" val="2032446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C1547-F053-4D71-8484-4DDD151C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TWO-SIDED COMMERCE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2D39A-527E-44FD-9BAE-6D73797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One company configuration powers buying and selling.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020AD-204E-4067-AF83-BBB64744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95CEC-19AB-4226-8530-D1D315FF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68acef88a4825"/>
          <a:srcRect xmlns:a="http://schemas.openxmlformats.org/drawingml/2006/main" l="17500" t="0" r="17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571625"/>
            <a:ext cx="51435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79A76-FB66-40F2-AEBC-9E8A1242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D4CA"/>
                </a:solidFill>
              </a:defRPr>
            </a:pPr>
            <a:r>
              <a:rPr sz="1200" b="1">
                <a:solidFill>
                  <a:srgbClr val="64D4CA"/>
                </a:solidFill>
              </a:rPr>
              <a:t>BUY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45057-0845-4CE0-9A1A-3A06FE0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7F6"/>
                </a:solidFill>
              </a:defRPr>
            </a:pPr>
            <a:r>
              <a:rPr sz="2025" b="1">
                <a:solidFill>
                  <a:srgbClr val="F5F7F6"/>
                </a:solidFill>
              </a:rPr>
              <a:t>Give the agent a mandate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E87FD-6E3D-4AFD-AE67-1C8FC087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Describe the outcome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Discover and compare sellers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Negotiate through A2A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Enforce company policy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Approve, pay, and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A1EF3-2E56-435D-A298-844DEDBC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ED55"/>
                </a:solidFill>
              </a:defRPr>
            </a:pPr>
            <a:r>
              <a:rPr sz="1200" b="1">
                <a:solidFill>
                  <a:srgbClr val="F2ED55"/>
                </a:solidFill>
              </a:rPr>
              <a:t>SELL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877DF-3219-4094-8F8A-2E782D9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6"/>
                </a:solidFill>
              </a:defRPr>
            </a:pPr>
            <a:r>
              <a:rPr sz="1875" b="1">
                <a:solidFill>
                  <a:srgbClr val="F5F7F6"/>
                </a:solidFill>
              </a:rPr>
              <a:t>Publish what the business already sells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95B92-B40E-43ED-BB9B-DF91C7A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APIs, software, services, subscriptions, or physical products use the same pricing, negotiation, authorization, and receipt layer.</a:t>
            </a:r>
          </a:p>
        </p:txBody>
      </p:sp>
    </p:spTree>
    <p:extLst>
      <p:ext uri="{BB962C8B-B14F-4D97-AF65-F5344CB8AC3E}">
        <p14:creationId xmlns:p14="http://schemas.microsoft.com/office/powerpoint/2010/main" val="992333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CAEAD-563C-4EDA-9112-ABF617A6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SELLING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E29C7-937E-41C3-88CB-85EB142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A live OpenAPI document becomes 18 agent-buyable products.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51FD2-74CC-4509-967F-67B2B77C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37CC-5F17-4482-B33B-6CA87BA8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dd38d9f61408a"/>
          <a:srcRect xmlns:a="http://schemas.openxmlformats.org/drawingml/2006/main" l="8833" t="0" r="8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600200"/>
            <a:ext cx="72390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4E6AD-B64B-4867-A3D5-64B051A9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ED55"/>
                </a:solidFill>
              </a:defRPr>
            </a:pPr>
            <a:r>
              <a:rPr sz="4350" b="1">
                <a:solidFill>
                  <a:srgbClr val="F2ED5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D3FB0-57FA-42FC-997E-E9E1D89A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6"/>
                </a:solidFill>
              </a:defRPr>
            </a:pPr>
            <a:r>
              <a:rPr sz="1800" b="1">
                <a:solidFill>
                  <a:srgbClr val="F5F7F6"/>
                </a:solidFill>
              </a:rPr>
              <a:t>independently priced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F8973-4630-41CB-A954-F51FE656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8A19F"/>
                </a:solidFill>
              </a:defRPr>
            </a:pPr>
            <a:r>
              <a:rPr sz="1725" b="0">
                <a:solidFill>
                  <a:srgbClr val="98A19F"/>
                </a:solidFill>
              </a:rPr>
              <a:t>13 live</a:t>
            </a:r>
          </a:p>
          <a:p xmlns:a="http://schemas.openxmlformats.org/drawingml/2006/main">
            <a:pPr algn="l">
              <a:defRPr sz="1725" b="0">
                <a:solidFill>
                  <a:srgbClr val="98A19F"/>
                </a:solidFill>
              </a:defRPr>
            </a:pPr>
            <a:r>
              <a:rPr sz="1725" b="0">
                <a:solidFill>
                  <a:srgbClr val="98A19F"/>
                </a:solidFill>
              </a:rPr>
              <a:t>3 derived</a:t>
            </a:r>
          </a:p>
          <a:p xmlns:a="http://schemas.openxmlformats.org/drawingml/2006/main">
            <a:pPr algn="l">
              <a:defRPr sz="1725" b="0">
                <a:solidFill>
                  <a:srgbClr val="98A19F"/>
                </a:solidFill>
              </a:defRPr>
            </a:pPr>
            <a:r>
              <a:rPr sz="1725" b="0">
                <a:solidFill>
                  <a:srgbClr val="98A19F"/>
                </a:solidFill>
              </a:rPr>
              <a:t>2 simulated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98A4F-2D48-4A9A-A796-B315FE93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6"/>
                </a:solidFill>
              </a:defRPr>
            </a:pPr>
            <a:r>
              <a:rPr sz="1350" b="0">
                <a:solidFill>
                  <a:srgbClr val="F5F7F6"/>
                </a:solidFill>
              </a:rPr>
              <a:t>Price floors, discounts, payment rails, and negotiation rules publish with the catalog.</a:t>
            </a:r>
          </a:p>
        </p:txBody>
      </p:sp>
    </p:spTree>
    <p:extLst>
      <p:ext uri="{BB962C8B-B14F-4D97-AF65-F5344CB8AC3E}">
        <p14:creationId xmlns:p14="http://schemas.microsoft.com/office/powerpoint/2010/main" val="572042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82A68-19BD-48C1-9018-A939FB82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BUYER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59B51-443E-4299-8168-CD44471C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The buyer agent turns plain English into a controlled mandate.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91065-28B7-4835-84B2-46FC706A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40D5C-365F-43A5-941C-95871E85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f98bb10c4b54"/>
          <a:srcRect xmlns:a="http://schemas.openxmlformats.org/drawingml/2006/main" l="13036" t="0" r="130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571625"/>
            <a:ext cx="657225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78010-A687-4562-8032-C09FA5A2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D4CA"/>
                </a:solidFill>
              </a:defRPr>
            </a:pPr>
            <a:r>
              <a:rPr sz="1350" b="1">
                <a:solidFill>
                  <a:srgbClr val="64D4CA"/>
                </a:solidFill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47884-C06C-407E-9BAC-C40B1D3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6"/>
                </a:solidFill>
              </a:defRPr>
            </a:pPr>
            <a:r>
              <a:rPr sz="1875" b="1">
                <a:solidFill>
                  <a:srgbClr val="F5F7F6"/>
                </a:solidFill>
              </a:rPr>
              <a:t>Buy 100 mission-readiness reports. Stay below $1,500.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0D100-B098-483C-8DE7-42B18443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D55"/>
                </a:solidFill>
              </a:defRPr>
            </a:pPr>
            <a:r>
              <a:rPr sz="1350" b="1">
                <a:solidFill>
                  <a:srgbClr val="F2ED55"/>
                </a:solidFill>
              </a:rPr>
              <a:t>Structured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B9BB7-0F1D-4E99-A0AD-326A5CAA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Budget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Maximum unit price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Required quantity and quality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Approved sellers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Human-approval threshold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6FF0D-0C4F-4938-B207-BE9BF2C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6"/>
                </a:solidFill>
              </a:defRPr>
            </a:pPr>
            <a:r>
              <a:rPr sz="1350" b="1">
                <a:solidFill>
                  <a:srgbClr val="F5F7F6"/>
                </a:solidFill>
              </a:rPr>
              <a:t>OpenAI helps prepare the plan. Deterministic code decides whether it may execute.</a:t>
            </a:r>
          </a:p>
        </p:txBody>
      </p:sp>
    </p:spTree>
    <p:extLst>
      <p:ext uri="{BB962C8B-B14F-4D97-AF65-F5344CB8AC3E}">
        <p14:creationId xmlns:p14="http://schemas.microsoft.com/office/powerpoint/2010/main" val="318488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3D475-4CD6-46CB-9CBF-F69B7F8E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AGENT-TO-AGENT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A7F5F-4CBE-4F19-A3E8-B0537975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A2A lets independent agents discover and negotiate.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D1ADC-BF0F-4477-9FF1-E7E6D122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072B5-D328-47D9-A64C-F1D4397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88EAF-3998-47DE-A13B-C2AF45FC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201F"/>
          </a:solidFill>
          <a:ln xmlns:a="http://schemas.openxmlformats.org/drawingml/2006/main" w="9525">
            <a:solidFill>
              <a:srgbClr val="64D4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B746-2B28-42FC-9DE7-3954D33C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D4CA"/>
                </a:solidFill>
              </a:defRPr>
            </a:pPr>
            <a:r>
              <a:rPr sz="2025" b="1">
                <a:solidFill>
                  <a:srgbClr val="64D4CA"/>
                </a:solidFill>
              </a:rPr>
              <a:t>Buyer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56665-892D-4A97-B948-F50CE356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Mandate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Budget and quantity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Quality requirements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Approved payment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8047C-95E1-4B13-AFF2-25B7B699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201F"/>
          </a:solidFill>
          <a:ln xmlns:a="http://schemas.openxmlformats.org/drawingml/2006/main" w="9525">
            <a:solidFill>
              <a:srgbClr val="927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AD211-5371-4B45-A0C5-6D0D8B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270FF"/>
                </a:solidFill>
              </a:defRPr>
            </a:pPr>
            <a:r>
              <a:rPr sz="2025" b="1">
                <a:solidFill>
                  <a:srgbClr val="9270FF"/>
                </a:solidFill>
              </a:rPr>
              <a:t>Seller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685B5-D6FD-47CE-89C2-24BE274D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Official Agent Card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Product capabilities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Price and discount rules</a:t>
            </a:r>
          </a:p>
          <a:p xmlns:a="http://schemas.openxmlformats.org/drawingml/2006/main">
            <a:pPr algn="l">
              <a:defRPr sz="1425" b="0">
                <a:solidFill>
                  <a:srgbClr val="98A19F"/>
                </a:solidFill>
              </a:defRPr>
            </a:pPr>
            <a:r>
              <a:rPr sz="1425" b="0">
                <a:solidFill>
                  <a:srgbClr val="98A19F"/>
                </a:solidFill>
              </a:rPr>
              <a:t>Delivery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DE178-9535-4EF3-96B6-C623F21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655E2-04BC-4372-82C9-E764746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ED55"/>
                </a:solidFill>
              </a:defRPr>
            </a:pPr>
            <a:r>
              <a:rPr sz="1050" b="1">
                <a:solidFill>
                  <a:srgbClr val="F2ED55"/>
                </a:solidFill>
              </a:rPr>
              <a:t>DISCOVER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F30A7-3AD8-40FF-A114-57DDC9D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765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ED55"/>
                </a:solidFill>
              </a:defRPr>
            </a:pPr>
            <a:r>
              <a:rPr sz="1050" b="1">
                <a:solidFill>
                  <a:srgbClr val="F2ED55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A9F7D-E61F-4432-BD55-8F2171D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ED55"/>
                </a:solidFill>
              </a:defRPr>
            </a:pPr>
            <a:r>
              <a:rPr sz="1050" b="1">
                <a:solidFill>
                  <a:srgbClr val="F2ED55"/>
                </a:solidFill>
              </a:rPr>
              <a:t>COUNTER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942FF-0434-469D-9E72-39B9C017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ED55"/>
                </a:solidFill>
              </a:defRPr>
            </a:pPr>
            <a:r>
              <a:rPr sz="1050" b="1">
                <a:solidFill>
                  <a:srgbClr val="F2ED55"/>
                </a:solidFill>
              </a:rPr>
              <a:t>AGREE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1C415-FA17-4443-98C9-4A984E48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242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6"/>
                </a:solidFill>
              </a:defRPr>
            </a:pPr>
            <a:r>
              <a:rPr sz="1500" b="1">
                <a:solidFill>
                  <a:srgbClr val="F5F7F6"/>
                </a:solidFill>
              </a:rPr>
              <a:t>JSON-RPC transport · streaming events · structured tasks and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3D246-E89E-41B9-9234-48F8DE74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ED55"/>
                </a:solidFill>
              </a:defRPr>
            </a:pPr>
            <a:r>
              <a:rPr sz="1875" b="1">
                <a:solidFill>
                  <a:srgbClr val="F2ED55"/>
                </a:solidFill>
              </a:rPr>
              <a:t>Output: a structured commercial agreement for price, quantity, quality, and delivery. No payment permission yet.</a:t>
            </a:r>
          </a:p>
        </p:txBody>
      </p:sp>
    </p:spTree>
    <p:extLst>
      <p:ext uri="{BB962C8B-B14F-4D97-AF65-F5344CB8AC3E}">
        <p14:creationId xmlns:p14="http://schemas.microsoft.com/office/powerpoint/2010/main" val="1014539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8C795-FA54-4553-AEA8-02046E70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POLICY + AP2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1D154-69C5-4E0F-B4E8-048E3052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Agreement becomes exact, signed payment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8C900-463E-41A3-9499-94256B77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05174-45E6-4838-9851-4B51455B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0fc23d8134aa8"/>
          <a:srcRect xmlns:a="http://schemas.openxmlformats.org/drawingml/2006/main" l="13721" t="0" r="137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619250"/>
            <a:ext cx="6096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A76BD-B50C-4B36-8ED0-1E47860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A23A"/>
                </a:solidFill>
              </a:defRPr>
            </a:pPr>
            <a:r>
              <a:rPr sz="1950" b="1">
                <a:solidFill>
                  <a:srgbClr val="F0A23A"/>
                </a:solidFill>
              </a:rPr>
              <a:t>Deterministic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AB47C-C0D0-446B-9F8A-1A4FBB56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Budget · unit price · seller · product · quantity ·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6FE7B-71E7-47DA-83EF-D32E5A38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ED55"/>
                </a:solidFill>
              </a:defRPr>
            </a:pPr>
            <a:r>
              <a:rPr sz="1950" b="1">
                <a:solidFill>
                  <a:srgbClr val="F2ED55"/>
                </a:solidFill>
              </a:rPr>
              <a:t>Human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EF34C-D594-4FB2-AD2B-80460AAB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7187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6"/>
                </a:solidFill>
              </a:defRPr>
            </a:pPr>
            <a:r>
              <a:rPr sz="1425" b="0">
                <a:solidFill>
                  <a:srgbClr val="F5F7F6"/>
                </a:solidFill>
              </a:rPr>
              <a:t>$1,450 negotiated</a:t>
            </a:r>
          </a:p>
          <a:p xmlns:a="http://schemas.openxmlformats.org/drawingml/2006/main">
            <a:pPr algn="l">
              <a:defRPr sz="1425" b="0">
                <a:solidFill>
                  <a:srgbClr val="F5F7F6"/>
                </a:solidFill>
              </a:defRPr>
            </a:pPr>
            <a:r>
              <a:rPr sz="1425" b="0">
                <a:solidFill>
                  <a:srgbClr val="F5F7F6"/>
                </a:solidFill>
              </a:rPr>
              <a:t>$500 automatic limit</a:t>
            </a:r>
          </a:p>
          <a:p xmlns:a="http://schemas.openxmlformats.org/drawingml/2006/main">
            <a:pPr algn="l">
              <a:defRPr sz="1425" b="0">
                <a:solidFill>
                  <a:srgbClr val="F5F7F6"/>
                </a:solidFill>
              </a:defRPr>
            </a:pPr>
            <a:r>
              <a:rPr sz="1425" b="0">
                <a:solidFill>
                  <a:srgbClr val="F5F7F6"/>
                </a:solidFill>
              </a:rPr>
              <a:t>Nothing moves until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DE26C-27F3-44E7-9E09-6769097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57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270FF"/>
                </a:solidFill>
              </a:defRPr>
            </a:pPr>
            <a:r>
              <a:rPr sz="1950" b="1">
                <a:solidFill>
                  <a:srgbClr val="9270FF"/>
                </a:solidFill>
              </a:rPr>
              <a:t>Official AP2 mandate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EE3BF-E877-4E47-82F6-1CEB44F9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34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Buyer · seller · product · exact and maximum amount · payment method · recipient · expiration</a:t>
            </a:r>
          </a:p>
        </p:txBody>
      </p:sp>
    </p:spTree>
    <p:extLst>
      <p:ext uri="{BB962C8B-B14F-4D97-AF65-F5344CB8AC3E}">
        <p14:creationId xmlns:p14="http://schemas.microsoft.com/office/powerpoint/2010/main" val="825485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5612F-4AAF-4677-99CE-FBEC3C5A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PAYMENT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362F8-6F7D-419D-9BF9-BD7D6714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One policy layer chooses the payment 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7E949-BBEA-4736-BA7A-ADFB334F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803C2-AAC7-48DF-BC9B-BD5665B8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41860-E4F7-45CB-B476-BAF77319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01F"/>
          </a:solidFill>
          <a:ln xmlns:a="http://schemas.openxmlformats.org/drawingml/2006/main" w="9525">
            <a:solidFill>
              <a:srgbClr val="927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9CA41-F5F6-4271-A8F8-F400F9C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9270FF"/>
                </a:solidFill>
              </a:defRPr>
            </a:pPr>
            <a:r>
              <a:rPr sz="3000" b="1">
                <a:solidFill>
                  <a:srgbClr val="9270FF"/>
                </a:solidFill>
              </a:rPr>
              <a:t>$0.01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129F6-CA2D-48C3-BD26-48E1C03A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6"/>
                </a:solidFill>
              </a:defRPr>
            </a:pPr>
            <a:r>
              <a:rPr sz="1950" b="1">
                <a:solidFill>
                  <a:srgbClr val="F5F7F6"/>
                </a:solidFill>
              </a:rPr>
              <a:t>Monad x402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AA50F-90E6-4B7B-85BA-003E2977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Machine-readable APIs and data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Test USDC settlement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Protected result released after verification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F4E89-3309-4C6C-80D3-A0B58951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01F"/>
          </a:solidFill>
          <a:ln xmlns:a="http://schemas.openxmlformats.org/drawingml/2006/main" w="9525">
            <a:solidFill>
              <a:srgbClr val="42BD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63AFC-9204-4B00-9B12-4EFAE42C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478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2BDEA"/>
                </a:solidFill>
              </a:defRPr>
            </a:pPr>
            <a:r>
              <a:rPr sz="3000" b="1">
                <a:solidFill>
                  <a:srgbClr val="42BDEA"/>
                </a:solidFill>
              </a:rPr>
              <a:t>$464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308D6-8FCE-445C-88B2-939562C3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6"/>
                </a:solidFill>
              </a:defRPr>
            </a:pPr>
            <a:r>
              <a:rPr sz="1950" b="1">
                <a:solidFill>
                  <a:srgbClr val="F5F7F6"/>
                </a:solidFill>
              </a:rPr>
              <a:t>Rain scoped 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4920F-081A-43BB-8623-DA24A061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Traditional upstream vendor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Exact amount, MCC, and expiry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Bad merchant declined; good purchase settles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C1A65-B4D0-40E9-9528-78A32C4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01F"/>
          </a:solidFill>
          <a:ln xmlns:a="http://schemas.openxmlformats.org/drawingml/2006/main" w="9525">
            <a:solidFill>
              <a:srgbClr val="F2ED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A800A-5379-4E70-8752-8FD18E0C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478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ED55"/>
                </a:solidFill>
              </a:defRPr>
            </a:pPr>
            <a:r>
              <a:rPr sz="3000" b="1">
                <a:solidFill>
                  <a:srgbClr val="F2ED55"/>
                </a:solidFill>
              </a:rPr>
              <a:t>$28,900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5B350-EA3F-463F-9E20-BB91B16E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14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6"/>
                </a:solidFill>
              </a:defRPr>
            </a:pPr>
            <a:r>
              <a:rPr sz="1950" b="1">
                <a:solidFill>
                  <a:srgbClr val="F5F7F6"/>
                </a:solidFill>
              </a:rPr>
              <a:t>Escrow or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6762E-11A1-482B-88D5-4E7BB32F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86125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High-value hardware or deposits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Solidity commercial terms</a:t>
            </a:r>
          </a:p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Fund, release, refund, or cancel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31532-8B6C-4F5E-B7B9-C7628967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6"/>
                </a:solidFill>
              </a:defRPr>
            </a:pPr>
            <a:r>
              <a:rPr sz="1800" b="1">
                <a:solidFill>
                  <a:srgbClr val="F5F7F6"/>
                </a:solidFill>
              </a:rPr>
              <a:t>Small machine purchase. Controlled merchant procurement. High-value commercial agreement.</a:t>
            </a:r>
          </a:p>
        </p:txBody>
      </p:sp>
    </p:spTree>
    <p:extLst>
      <p:ext uri="{BB962C8B-B14F-4D97-AF65-F5344CB8AC3E}">
        <p14:creationId xmlns:p14="http://schemas.microsoft.com/office/powerpoint/2010/main" val="1285521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E968E-0AE8-42CA-9D7A-A2BD5702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57ECA-DDAB-48D1-B60C-DA51119B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Rain connects agent commerce to cards and treasury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7D1EE-6FB1-48CE-9F6F-54AB4373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824EA-CD5F-4FAC-8587-7368777A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10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eb42174cd4e1e"/>
          <a:srcRect xmlns:a="http://schemas.openxmlformats.org/drawingml/2006/main" l="19808" t="0" r="19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571625"/>
            <a:ext cx="5191125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36bb401a2491d"/>
          <a:srcRect xmlns:a="http://schemas.openxmlformats.org/drawingml/2006/main" l="18146" t="0" r="181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571625"/>
            <a:ext cx="5476875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8D853-6134-477E-BD64-EED716FD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BDEA"/>
                </a:solidFill>
              </a:defRPr>
            </a:pPr>
            <a:r>
              <a:rPr sz="1350" b="1">
                <a:solidFill>
                  <a:srgbClr val="42BDEA"/>
                </a:solidFill>
              </a:rPr>
              <a:t>Controlled procurement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319F5-7E92-4AF9-8FCB-EE7DB6F5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D55"/>
                </a:solidFill>
              </a:defRPr>
            </a:pPr>
            <a:r>
              <a:rPr sz="1350" b="1">
                <a:solidFill>
                  <a:srgbClr val="F2ED55"/>
                </a:solidFill>
              </a:rPr>
              <a:t>Payment accounts and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B211B-8D37-4F8A-871A-4704EE21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388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A19F"/>
                </a:solidFill>
              </a:defRPr>
            </a:pPr>
            <a:r>
              <a:rPr sz="1125" b="0">
                <a:solidFill>
                  <a:srgbClr val="98A19F"/>
                </a:solidFill>
              </a:rPr>
              <a:t>Create, restrict, decline, authorize, settle, retrieve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DD70F-59BA-43C8-A033-17AA7D1D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3887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8A19F"/>
                </a:solidFill>
              </a:defRPr>
            </a:pPr>
            <a:r>
              <a:rPr sz="1125" b="0">
                <a:solidFill>
                  <a:srgbClr val="98A19F"/>
                </a:solidFill>
              </a:rPr>
              <a:t>Simulated USD ↔ stablecoin on-ramp and off-ramp</a:t>
            </a:r>
          </a:p>
        </p:txBody>
      </p:sp>
    </p:spTree>
    <p:extLst>
      <p:ext uri="{BB962C8B-B14F-4D97-AF65-F5344CB8AC3E}">
        <p14:creationId xmlns:p14="http://schemas.microsoft.com/office/powerpoint/2010/main" val="933844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37FF8-A0F1-49DE-900A-7674D323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AUDITABLE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224A5-61D5-4253-974A-225BEFC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One receipt proves the entire transaction.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E3439-919D-415A-8498-48DCC530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C2C6F-E31A-4441-97FD-D36515A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11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69f4ff33a4bb8"/>
          <a:srcRect xmlns:a="http://schemas.openxmlformats.org/drawingml/2006/main" l="11429" t="0" r="11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571625"/>
            <a:ext cx="685800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A69EB-3881-45EB-B29E-3BCD4CB4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D4CA"/>
                </a:solidFill>
              </a:defRPr>
            </a:pPr>
            <a:r>
              <a:rPr sz="1350" b="1">
                <a:solidFill>
                  <a:srgbClr val="64D4CA"/>
                </a:solidFill>
              </a:rPr>
              <a:t>A2A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350F1-024C-4A33-9663-CBA960D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6"/>
                </a:solidFill>
              </a:defRPr>
            </a:pPr>
            <a:r>
              <a:rPr sz="1500" b="1">
                <a:solidFill>
                  <a:srgbClr val="F5F7F6"/>
                </a:solidFill>
              </a:rPr>
              <a:t>Negotiated agreement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25F06-9400-47C0-B040-CEB63C0E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A23A"/>
                </a:solidFill>
              </a:defRPr>
            </a:pPr>
            <a:r>
              <a:rPr sz="1350" b="1">
                <a:solidFill>
                  <a:srgbClr val="F0A23A"/>
                </a:solidFill>
              </a:rPr>
              <a:t>AP2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01886-C84D-4D0B-B190-3B8EB0F1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52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6"/>
                </a:solidFill>
              </a:defRPr>
            </a:pPr>
            <a:r>
              <a:rPr sz="1500" b="1">
                <a:solidFill>
                  <a:srgbClr val="F5F7F6"/>
                </a:solidFill>
              </a:rPr>
              <a:t>Exact sale and procurement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20A0A-96CE-4065-8282-26C173B4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70FF"/>
                </a:solidFill>
              </a:defRPr>
            </a:pPr>
            <a:r>
              <a:rPr sz="1350" b="1">
                <a:solidFill>
                  <a:srgbClr val="9270FF"/>
                </a:solidFill>
              </a:rPr>
              <a:t>MONAD + 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62F62-F2A7-49B7-83F2-D4FF357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481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6"/>
                </a:solidFill>
              </a:defRPr>
            </a:pPr>
            <a:r>
              <a:rPr sz="1500" b="1">
                <a:solidFill>
                  <a:srgbClr val="F5F7F6"/>
                </a:solidFill>
              </a:rPr>
              <a:t>x402 settlement, card decline, approved settlement, posted 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C3D62-51F5-476A-AC15-81718DD4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43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29B"/>
                </a:solidFill>
              </a:defRPr>
            </a:pPr>
            <a:r>
              <a:rPr sz="1350" b="1">
                <a:solidFill>
                  <a:srgbClr val="45D29B"/>
                </a:solidFill>
              </a:rPr>
              <a:t>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0660B-22C4-43E2-9081-532B386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768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6"/>
                </a:solidFill>
              </a:defRPr>
            </a:pPr>
            <a:r>
              <a:rPr sz="1500" b="1">
                <a:solidFill>
                  <a:srgbClr val="F5F7F6"/>
                </a:solidFill>
              </a:rPr>
              <a:t>100 reports · 96% readiness · verified</a:t>
            </a:r>
          </a:p>
        </p:txBody>
      </p:sp>
    </p:spTree>
    <p:extLst>
      <p:ext uri="{BB962C8B-B14F-4D97-AF65-F5344CB8AC3E}">
        <p14:creationId xmlns:p14="http://schemas.microsoft.com/office/powerpoint/2010/main" val="442774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AE377-7AD0-44AA-8F22-FA3DB41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COMPLETE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2F20A-AF70-418F-83D2-42C5F5AA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Existing commerce in. Governed agent transactions out.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16ee7e3774e19"/>
          <a:stretch xmlns:a="http://schemas.openxmlformats.org/drawingml/2006/main"/>
        </p:blipFill>
        <p:spPr>
          <a:xfrm xmlns:a="http://schemas.openxmlformats.org/drawingml/2006/main">
            <a:off x="1821089" y="1047750"/>
            <a:ext cx="8549821" cy="55245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83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86213-33F0-4834-BB9E-F98D9357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ED55"/>
                </a:solidFill>
              </a:defRPr>
            </a:pPr>
            <a:r>
              <a:rPr sz="975" b="1">
                <a:solidFill>
                  <a:srgbClr val="F2ED55"/>
                </a:solidFill>
              </a:rPr>
              <a:t>WHY IT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55764-0FA7-4C04-9E37-4C465956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7F6"/>
                </a:solidFill>
              </a:defRPr>
            </a:pPr>
            <a:r>
              <a:rPr sz="2700" b="1">
                <a:solidFill>
                  <a:srgbClr val="F5F7F6"/>
                </a:solidFill>
              </a:rPr>
              <a:t>A practical adoption layer for Rain and Monad.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76CE1-E1F3-4BE1-B69D-18318E11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7F0F4-E552-467D-AA49-423F646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8A19F"/>
                </a:solidFill>
              </a:defRPr>
            </a:pPr>
            <a:r>
              <a:rPr sz="900" b="1">
                <a:solidFill>
                  <a:srgbClr val="98A19F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3193F-0295-4A0D-9688-676B1792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2BDEA"/>
                </a:solidFill>
              </a:defRPr>
            </a:pPr>
            <a:r>
              <a:rPr sz="2100" b="1">
                <a:solidFill>
                  <a:srgbClr val="42BDEA"/>
                </a:solidFill>
              </a:rPr>
              <a:t>Best use of 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1D75B-0E20-4DAC-938C-06F9FD8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Scoped cards, policy declines, approved settlement, transaction retrieval, payment accounts, routes, and treasury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BE140-D967-4861-8A58-F105C740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145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8F37A-F68D-4C7C-811D-51053633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D4CA"/>
                </a:solidFill>
              </a:defRPr>
            </a:pPr>
            <a:r>
              <a:rPr sz="2100" b="1">
                <a:solidFill>
                  <a:srgbClr val="64D4CA"/>
                </a:solidFill>
              </a:rPr>
              <a:t>General track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C636C-B8DB-4FF1-8DFB-C269CA15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Agents discover, negotiate, stop for approval, move test or sandbox money, and verify delivery in one working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8DDA7-C1F5-47D8-8393-2C06AA88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735"/>
          </a:solidFill>
          <a:ln xmlns:a="http://schemas.openxmlformats.org/drawingml/2006/main" w="0">
            <a:solidFill>
              <a:srgbClr val="2B37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D2A3B-BBF5-4B96-9AB8-F3C980C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62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270FF"/>
                </a:solidFill>
              </a:defRPr>
            </a:pPr>
            <a:r>
              <a:rPr sz="2100" b="1">
                <a:solidFill>
                  <a:srgbClr val="9270FF"/>
                </a:solidFill>
              </a:rPr>
              <a:t>Monad + 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F4DA6-2CA0-4E05-81BD-34FBFB35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8A19F"/>
                </a:solidFill>
              </a:defRPr>
            </a:pPr>
            <a:r>
              <a:rPr sz="1350" b="0">
                <a:solidFill>
                  <a:srgbClr val="98A19F"/>
                </a:solidFill>
              </a:rPr>
              <a:t>Monad handles native machine settlement and high-value terms. Rain reaches traditional merchants and treasury routes.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FF750-158B-4DD4-9AE0-9E21406B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7F6"/>
                </a:solidFill>
              </a:defRPr>
            </a:pPr>
            <a:r>
              <a:rPr sz="2550" b="1">
                <a:solidFill>
                  <a:srgbClr val="F5F7F6"/>
                </a:solidFill>
              </a:rPr>
              <a:t>Connect what the company already has. Become agent-commerce ready in hours.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BAA84-A0DE-43D6-B57F-011B87B1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D55"/>
                </a:solidFill>
              </a:defRPr>
            </a:pPr>
            <a:r>
              <a:rPr sz="1350" b="1">
                <a:solidFill>
                  <a:srgbClr val="F2ED55"/>
                </a:solidFill>
              </a:rPr>
              <a:t>Agent skill · SDK direction · raingentic.saibolla.com</a:t>
            </a:r>
          </a:p>
        </p:txBody>
      </p:sp>
    </p:spTree>
    <p:extLst>
      <p:ext uri="{BB962C8B-B14F-4D97-AF65-F5344CB8AC3E}">
        <p14:creationId xmlns:p14="http://schemas.microsoft.com/office/powerpoint/2010/main" val="547627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2026-08-09T14:15:07.2070000Z</dcterms:created>
  <dcterms:modified xsi:type="dcterms:W3CDTF">2026-08-09T14:15:07.2070000Z</dcterms:modified>
</coreProperties>
</file>